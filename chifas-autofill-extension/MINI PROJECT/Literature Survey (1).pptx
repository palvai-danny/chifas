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74" r:id="rId3"/>
    <p:sldId id="257" r:id="rId4"/>
    <p:sldId id="258" r:id="rId5"/>
    <p:sldId id="263" r:id="rId6"/>
    <p:sldId id="264" r:id="rId7"/>
    <p:sldId id="265" r:id="rId8"/>
    <p:sldId id="266" r:id="rId9"/>
    <p:sldId id="269" r:id="rId10"/>
    <p:sldId id="271" r:id="rId11"/>
    <p:sldId id="275" r:id="rId12"/>
    <p:sldId id="272"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hhR1aLYUKw8uPyuqMv0N0ejbFO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0BD25F-960E-4EDE-841B-6BAD378992E6}">
  <a:tblStyle styleId="{F90BD25F-960E-4EDE-841B-6BAD378992E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1CDC17D-0BAF-49D1-A989-1BA96F3E33D5}"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EEF"/>
          </a:solidFill>
        </a:fill>
      </a:tcStyle>
    </a:wholeTbl>
    <a:band1H>
      <a:tcTxStyle/>
      <a:tcStyle>
        <a:tcBdr/>
        <a:fill>
          <a:solidFill>
            <a:srgbClr val="D5DBDE"/>
          </a:solidFill>
        </a:fill>
      </a:tcStyle>
    </a:band1H>
    <a:band2H>
      <a:tcTxStyle/>
      <a:tcStyle>
        <a:tcBdr/>
      </a:tcStyle>
    </a:band2H>
    <a:band1V>
      <a:tcTxStyle/>
      <a:tcStyle>
        <a:tcBdr/>
        <a:fill>
          <a:solidFill>
            <a:srgbClr val="D5DBDE"/>
          </a:solidFill>
        </a:fill>
      </a:tcStyle>
    </a:band1V>
    <a:band2V>
      <a:tcTxStyle/>
      <a:tcStyle>
        <a:tcBdr/>
      </a:tcStyle>
    </a:band2V>
    <a:lastCol>
      <a:tcTxStyle b="on" i="off">
        <a:font>
          <a:latin typeface="Arial"/>
          <a:ea typeface="Arial"/>
          <a:cs typeface="Arial"/>
        </a:font>
        <a:schemeClr val="lt1"/>
      </a:tcTxStyle>
      <a:tcStyle>
        <a:tcBdr/>
        <a:fill>
          <a:solidFill>
            <a:schemeClr val="accent3"/>
          </a:solidFill>
        </a:fill>
      </a:tcStyle>
    </a:lastCol>
    <a:firstCol>
      <a:tcTxStyle b="on" i="off">
        <a:font>
          <a:latin typeface="Arial"/>
          <a:ea typeface="Arial"/>
          <a:cs typeface="Arial"/>
        </a:font>
        <a:schemeClr val="lt1"/>
      </a:tcTxStyle>
      <a:tcStyle>
        <a:tcBdr/>
        <a:fill>
          <a:solidFill>
            <a:schemeClr val="accent3"/>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customschemas.google.com/relationships/presentationmetadata" Target="meta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28"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51" name="Google Shape;5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 name="Google Shape;7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1EAD0F4A-5CFF-6D0B-5FBA-CFAABB4CCF37}"/>
            </a:ext>
          </a:extLst>
        </p:cNvPr>
        <p:cNvGrpSpPr/>
        <p:nvPr/>
      </p:nvGrpSpPr>
      <p:grpSpPr>
        <a:xfrm>
          <a:off x="0" y="0"/>
          <a:ext cx="0" cy="0"/>
          <a:chOff x="0" y="0"/>
          <a:chExt cx="0" cy="0"/>
        </a:xfrm>
      </p:grpSpPr>
      <p:sp>
        <p:nvSpPr>
          <p:cNvPr id="166" name="Google Shape;166;p16:notes">
            <a:extLst>
              <a:ext uri="{FF2B5EF4-FFF2-40B4-BE49-F238E27FC236}">
                <a16:creationId xmlns:a16="http://schemas.microsoft.com/office/drawing/2014/main" id="{898EAA3C-36C5-EA98-C01A-6947DF74BF45}"/>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6:notes">
            <a:extLst>
              <a:ext uri="{FF2B5EF4-FFF2-40B4-BE49-F238E27FC236}">
                <a16:creationId xmlns:a16="http://schemas.microsoft.com/office/drawing/2014/main" id="{7908B94A-2538-884A-9A06-1F63365EAA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293212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311708" y="744574"/>
            <a:ext cx="8520601" cy="20526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5200"/>
              <a:buFont typeface="Arial"/>
              <a:buNone/>
              <a:defRPr sz="52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11" name="Google Shape;11;p22"/>
          <p:cNvSpPr txBox="1">
            <a:spLocks noGrp="1"/>
          </p:cNvSpPr>
          <p:nvPr>
            <p:ph type="body" idx="1"/>
          </p:nvPr>
        </p:nvSpPr>
        <p:spPr>
          <a:xfrm>
            <a:off x="311699" y="2834125"/>
            <a:ext cx="8520602" cy="7926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2800"/>
              <a:buFont typeface="Arial"/>
              <a:buNone/>
              <a:defRPr sz="2800"/>
            </a:lvl1pPr>
            <a:lvl2pPr marL="914400" lvl="1" indent="-228600" algn="ctr">
              <a:lnSpc>
                <a:spcPct val="100000"/>
              </a:lnSpc>
              <a:spcBef>
                <a:spcPts val="0"/>
              </a:spcBef>
              <a:spcAft>
                <a:spcPts val="0"/>
              </a:spcAft>
              <a:buClr>
                <a:srgbClr val="585858"/>
              </a:buClr>
              <a:buSzPts val="2800"/>
              <a:buFont typeface="Arial"/>
              <a:buNone/>
              <a:defRPr sz="2800"/>
            </a:lvl2pPr>
            <a:lvl3pPr marL="1371600" lvl="2" indent="-228600" algn="ctr">
              <a:lnSpc>
                <a:spcPct val="100000"/>
              </a:lnSpc>
              <a:spcBef>
                <a:spcPts val="0"/>
              </a:spcBef>
              <a:spcAft>
                <a:spcPts val="0"/>
              </a:spcAft>
              <a:buClr>
                <a:srgbClr val="585858"/>
              </a:buClr>
              <a:buSzPts val="2800"/>
              <a:buFont typeface="Arial"/>
              <a:buNone/>
              <a:defRPr sz="2800"/>
            </a:lvl3pPr>
            <a:lvl4pPr marL="1828800" lvl="3" indent="-228600" algn="ctr">
              <a:lnSpc>
                <a:spcPct val="100000"/>
              </a:lnSpc>
              <a:spcBef>
                <a:spcPts val="0"/>
              </a:spcBef>
              <a:spcAft>
                <a:spcPts val="0"/>
              </a:spcAft>
              <a:buClr>
                <a:srgbClr val="585858"/>
              </a:buClr>
              <a:buSzPts val="2800"/>
              <a:buFont typeface="Arial"/>
              <a:buNone/>
              <a:defRPr sz="2800"/>
            </a:lvl4pPr>
            <a:lvl5pPr marL="2286000" lvl="4" indent="-228600" algn="ctr">
              <a:lnSpc>
                <a:spcPct val="100000"/>
              </a:lnSpc>
              <a:spcBef>
                <a:spcPts val="0"/>
              </a:spcBef>
              <a:spcAft>
                <a:spcPts val="0"/>
              </a:spcAft>
              <a:buClr>
                <a:srgbClr val="585858"/>
              </a:buClr>
              <a:buSzPts val="2800"/>
              <a:buFont typeface="Arial"/>
              <a:buNone/>
              <a:defRPr sz="2800"/>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12" name="Google Shape;12;p22"/>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_AND_BODY">
  <p:cSld name="TITLE_AND_BODY 2">
    <p:spTree>
      <p:nvGrpSpPr>
        <p:cNvPr id="1" name="Shape 13"/>
        <p:cNvGrpSpPr/>
        <p:nvPr/>
      </p:nvGrpSpPr>
      <p:grpSpPr>
        <a:xfrm>
          <a:off x="0" y="0"/>
          <a:ext cx="0" cy="0"/>
          <a:chOff x="0" y="0"/>
          <a:chExt cx="0" cy="0"/>
        </a:xfrm>
      </p:grpSpPr>
      <p:sp>
        <p:nvSpPr>
          <p:cNvPr id="14" name="Google Shape;14;p23"/>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15" name="Google Shape;15;p23"/>
          <p:cNvSpPr txBox="1">
            <a:spLocks noGrp="1"/>
          </p:cNvSpPr>
          <p:nvPr>
            <p:ph type="body" idx="1"/>
          </p:nvPr>
        </p:nvSpPr>
        <p:spPr>
          <a:xfrm>
            <a:off x="311699" y="1152475"/>
            <a:ext cx="8520602" cy="3416400"/>
          </a:xfrm>
          <a:prstGeom prst="rect">
            <a:avLst/>
          </a:prstGeom>
          <a:noFill/>
          <a:ln>
            <a:noFill/>
          </a:ln>
        </p:spPr>
        <p:txBody>
          <a:bodyPr spcFirstLastPara="1" wrap="square" lIns="91400" tIns="91400" rIns="91400" bIns="91400"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16" name="Google Shape;16;p23"/>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BLANK" type="tx">
  <p:cSld name="TITLE_AND_BODY">
    <p:spTree>
      <p:nvGrpSpPr>
        <p:cNvPr id="1" name="Shape 17"/>
        <p:cNvGrpSpPr/>
        <p:nvPr/>
      </p:nvGrpSpPr>
      <p:grpSpPr>
        <a:xfrm>
          <a:off x="0" y="0"/>
          <a:ext cx="0" cy="0"/>
          <a:chOff x="0" y="0"/>
          <a:chExt cx="0" cy="0"/>
        </a:xfrm>
      </p:grpSpPr>
      <p:sp>
        <p:nvSpPr>
          <p:cNvPr id="18" name="Google Shape;18;p24"/>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a:lvl1pPr>
            <a:lvl2pPr marL="0" marR="0" lvl="1" indent="0" algn="r">
              <a:lnSpc>
                <a:spcPct val="100000"/>
              </a:lnSpc>
              <a:spcBef>
                <a:spcPts val="0"/>
              </a:spcBef>
              <a:spcAft>
                <a:spcPts val="0"/>
              </a:spcAft>
              <a:buClr>
                <a:srgbClr val="585858"/>
              </a:buClr>
              <a:buSzPts val="1000"/>
              <a:buFont typeface="Arial"/>
              <a:buNone/>
              <a:defRPr/>
            </a:lvl2pPr>
            <a:lvl3pPr marL="0" marR="0" lvl="2" indent="0" algn="r">
              <a:lnSpc>
                <a:spcPct val="100000"/>
              </a:lnSpc>
              <a:spcBef>
                <a:spcPts val="0"/>
              </a:spcBef>
              <a:spcAft>
                <a:spcPts val="0"/>
              </a:spcAft>
              <a:buClr>
                <a:srgbClr val="585858"/>
              </a:buClr>
              <a:buSzPts val="1000"/>
              <a:buFont typeface="Arial"/>
              <a:buNone/>
              <a:defRPr/>
            </a:lvl3pPr>
            <a:lvl4pPr marL="0" marR="0" lvl="3" indent="0" algn="r">
              <a:lnSpc>
                <a:spcPct val="100000"/>
              </a:lnSpc>
              <a:spcBef>
                <a:spcPts val="0"/>
              </a:spcBef>
              <a:spcAft>
                <a:spcPts val="0"/>
              </a:spcAft>
              <a:buClr>
                <a:srgbClr val="585858"/>
              </a:buClr>
              <a:buSzPts val="1000"/>
              <a:buFont typeface="Arial"/>
              <a:buNone/>
              <a:defRPr/>
            </a:lvl4pPr>
            <a:lvl5pPr marL="0" marR="0" lvl="4" indent="0" algn="r">
              <a:lnSpc>
                <a:spcPct val="100000"/>
              </a:lnSpc>
              <a:spcBef>
                <a:spcPts val="0"/>
              </a:spcBef>
              <a:spcAft>
                <a:spcPts val="0"/>
              </a:spcAft>
              <a:buClr>
                <a:srgbClr val="585858"/>
              </a:buClr>
              <a:buSzPts val="1000"/>
              <a:buFont typeface="Arial"/>
              <a:buNone/>
              <a:defRPr/>
            </a:lvl5pPr>
            <a:lvl6pPr marL="0" marR="0" lvl="5" indent="0" algn="r">
              <a:lnSpc>
                <a:spcPct val="100000"/>
              </a:lnSpc>
              <a:spcBef>
                <a:spcPts val="0"/>
              </a:spcBef>
              <a:spcAft>
                <a:spcPts val="0"/>
              </a:spcAft>
              <a:buClr>
                <a:srgbClr val="585858"/>
              </a:buClr>
              <a:buSzPts val="1000"/>
              <a:buFont typeface="Arial"/>
              <a:buNone/>
              <a:defRPr/>
            </a:lvl6pPr>
            <a:lvl7pPr marL="0" marR="0" lvl="6" indent="0" algn="r">
              <a:lnSpc>
                <a:spcPct val="100000"/>
              </a:lnSpc>
              <a:spcBef>
                <a:spcPts val="0"/>
              </a:spcBef>
              <a:spcAft>
                <a:spcPts val="0"/>
              </a:spcAft>
              <a:buClr>
                <a:srgbClr val="585858"/>
              </a:buClr>
              <a:buSzPts val="1000"/>
              <a:buFont typeface="Arial"/>
              <a:buNone/>
              <a:defRPr/>
            </a:lvl7pPr>
            <a:lvl8pPr marL="0" marR="0" lvl="7" indent="0" algn="r">
              <a:lnSpc>
                <a:spcPct val="100000"/>
              </a:lnSpc>
              <a:spcBef>
                <a:spcPts val="0"/>
              </a:spcBef>
              <a:spcAft>
                <a:spcPts val="0"/>
              </a:spcAft>
              <a:buClr>
                <a:srgbClr val="585858"/>
              </a:buClr>
              <a:buSzPts val="1000"/>
              <a:buFont typeface="Arial"/>
              <a:buNone/>
              <a:defRPr/>
            </a:lvl8pPr>
            <a:lvl9pPr marL="0" marR="0" lvl="8" indent="0" algn="r">
              <a:lnSpc>
                <a:spcPct val="100000"/>
              </a:lnSpc>
              <a:spcBef>
                <a:spcPts val="0"/>
              </a:spcBef>
              <a:spcAft>
                <a:spcPts val="0"/>
              </a:spcAft>
              <a:buClr>
                <a:srgbClr val="585858"/>
              </a:buClr>
              <a:buSzPts val="1000"/>
              <a:buFont typeface="Aria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_HEADER">
  <p:cSld name="TITLE_AND_BODY 3">
    <p:spTree>
      <p:nvGrpSpPr>
        <p:cNvPr id="1" name="Shape 19"/>
        <p:cNvGrpSpPr/>
        <p:nvPr/>
      </p:nvGrpSpPr>
      <p:grpSpPr>
        <a:xfrm>
          <a:off x="0" y="0"/>
          <a:ext cx="0" cy="0"/>
          <a:chOff x="0" y="0"/>
          <a:chExt cx="0" cy="0"/>
        </a:xfrm>
      </p:grpSpPr>
      <p:sp>
        <p:nvSpPr>
          <p:cNvPr id="20" name="Google Shape;20;p25"/>
          <p:cNvSpPr txBox="1">
            <a:spLocks noGrp="1"/>
          </p:cNvSpPr>
          <p:nvPr>
            <p:ph type="title"/>
          </p:nvPr>
        </p:nvSpPr>
        <p:spPr>
          <a:xfrm>
            <a:off x="311699" y="2150849"/>
            <a:ext cx="8520602" cy="841801"/>
          </a:xfrm>
          <a:prstGeom prst="rect">
            <a:avLst/>
          </a:prstGeom>
          <a:noFill/>
          <a:ln>
            <a:noFill/>
          </a:ln>
        </p:spPr>
        <p:txBody>
          <a:bodyPr spcFirstLastPara="1" wrap="square" lIns="91400" tIns="91400" rIns="91400" bIns="91400" anchor="ctr" anchorCtr="0">
            <a:normAutofit/>
          </a:bodyPr>
          <a:lstStyle>
            <a:lvl1pPr lvl="0" algn="ctr">
              <a:lnSpc>
                <a:spcPct val="100000"/>
              </a:lnSpc>
              <a:spcBef>
                <a:spcPts val="0"/>
              </a:spcBef>
              <a:spcAft>
                <a:spcPts val="0"/>
              </a:spcAft>
              <a:buClr>
                <a:srgbClr val="000000"/>
              </a:buClr>
              <a:buSzPts val="3600"/>
              <a:buFont typeface="Arial"/>
              <a:buNone/>
              <a:defRPr sz="36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21" name="Google Shape;21;p25"/>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spTree>
      <p:nvGrpSpPr>
        <p:cNvPr id="1" name="Shape 22"/>
        <p:cNvGrpSpPr/>
        <p:nvPr/>
      </p:nvGrpSpPr>
      <p:grpSpPr>
        <a:xfrm>
          <a:off x="0" y="0"/>
          <a:ext cx="0" cy="0"/>
          <a:chOff x="0" y="0"/>
          <a:chExt cx="0" cy="0"/>
        </a:xfrm>
      </p:grpSpPr>
      <p:sp>
        <p:nvSpPr>
          <p:cNvPr id="23" name="Google Shape;23;p26"/>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24" name="Google Shape;24;p26"/>
          <p:cNvSpPr txBox="1">
            <a:spLocks noGrp="1"/>
          </p:cNvSpPr>
          <p:nvPr>
            <p:ph type="body" idx="1"/>
          </p:nvPr>
        </p:nvSpPr>
        <p:spPr>
          <a:xfrm>
            <a:off x="311699" y="1152475"/>
            <a:ext cx="3999902" cy="3416400"/>
          </a:xfrm>
          <a:prstGeom prst="rect">
            <a:avLst/>
          </a:prstGeom>
          <a:noFill/>
          <a:ln>
            <a:noFill/>
          </a:ln>
        </p:spPr>
        <p:txBody>
          <a:bodyPr spcFirstLastPara="1" wrap="square" lIns="91400" tIns="91400" rIns="91400" bIns="91400" anchor="t" anchorCtr="0">
            <a:normAutofit/>
          </a:bodyPr>
          <a:lstStyle>
            <a:lvl1pPr marL="457200" lvl="0" indent="-317500" algn="l">
              <a:lnSpc>
                <a:spcPct val="115000"/>
              </a:lnSpc>
              <a:spcBef>
                <a:spcPts val="0"/>
              </a:spcBef>
              <a:spcAft>
                <a:spcPts val="0"/>
              </a:spcAft>
              <a:buSzPts val="1400"/>
              <a:buChar char="●"/>
              <a:defRPr sz="1400"/>
            </a:lvl1pPr>
            <a:lvl2pPr marL="914400" lvl="1" indent="-317500" algn="l">
              <a:lnSpc>
                <a:spcPct val="115000"/>
              </a:lnSpc>
              <a:spcBef>
                <a:spcPts val="0"/>
              </a:spcBef>
              <a:spcAft>
                <a:spcPts val="0"/>
              </a:spcAft>
              <a:buSzPts val="1400"/>
              <a:buChar char="○"/>
              <a:defRPr sz="1400"/>
            </a:lvl2pPr>
            <a:lvl3pPr marL="1371600" lvl="2" indent="-317500" algn="l">
              <a:lnSpc>
                <a:spcPct val="115000"/>
              </a:lnSpc>
              <a:spcBef>
                <a:spcPts val="0"/>
              </a:spcBef>
              <a:spcAft>
                <a:spcPts val="0"/>
              </a:spcAft>
              <a:buSzPts val="1400"/>
              <a:buChar char="■"/>
              <a:defRPr sz="1400"/>
            </a:lvl3pPr>
            <a:lvl4pPr marL="1828800" lvl="3" indent="-317500" algn="l">
              <a:lnSpc>
                <a:spcPct val="115000"/>
              </a:lnSpc>
              <a:spcBef>
                <a:spcPts val="0"/>
              </a:spcBef>
              <a:spcAft>
                <a:spcPts val="0"/>
              </a:spcAft>
              <a:buSzPts val="1400"/>
              <a:buChar char="●"/>
              <a:defRPr sz="1400"/>
            </a:lvl4pPr>
            <a:lvl5pPr marL="2286000" lvl="4" indent="-317500" algn="l">
              <a:lnSpc>
                <a:spcPct val="115000"/>
              </a:lnSpc>
              <a:spcBef>
                <a:spcPts val="0"/>
              </a:spcBef>
              <a:spcAft>
                <a:spcPts val="0"/>
              </a:spcAft>
              <a:buSzPts val="1400"/>
              <a:buChar char="○"/>
              <a:defRPr sz="1400"/>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25" name="Google Shape;25;p26"/>
          <p:cNvSpPr txBox="1">
            <a:spLocks noGrp="1"/>
          </p:cNvSpPr>
          <p:nvPr>
            <p:ph type="body" idx="2"/>
          </p:nvPr>
        </p:nvSpPr>
        <p:spPr>
          <a:xfrm>
            <a:off x="4832399" y="1152475"/>
            <a:ext cx="3999902" cy="3416400"/>
          </a:xfrm>
          <a:prstGeom prst="rect">
            <a:avLst/>
          </a:prstGeom>
          <a:noFill/>
          <a:ln>
            <a:noFill/>
          </a:ln>
        </p:spPr>
        <p:txBody>
          <a:bodyPr spcFirstLastPara="1" wrap="square" lIns="91400" tIns="91400" rIns="91400" bIns="91400"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26" name="Google Shape;26;p26"/>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27"/>
        <p:cNvGrpSpPr/>
        <p:nvPr/>
      </p:nvGrpSpPr>
      <p:grpSpPr>
        <a:xfrm>
          <a:off x="0" y="0"/>
          <a:ext cx="0" cy="0"/>
          <a:chOff x="0" y="0"/>
          <a:chExt cx="0" cy="0"/>
        </a:xfrm>
      </p:grpSpPr>
      <p:sp>
        <p:nvSpPr>
          <p:cNvPr id="28" name="Google Shape;28;p27"/>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29" name="Google Shape;29;p27"/>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_COLUMN_TEXT">
  <p:cSld name="ONE_COLUMN_TEXT">
    <p:spTree>
      <p:nvGrpSpPr>
        <p:cNvPr id="1" name="Shape 30"/>
        <p:cNvGrpSpPr/>
        <p:nvPr/>
      </p:nvGrpSpPr>
      <p:grpSpPr>
        <a:xfrm>
          <a:off x="0" y="0"/>
          <a:ext cx="0" cy="0"/>
          <a:chOff x="0" y="0"/>
          <a:chExt cx="0" cy="0"/>
        </a:xfrm>
      </p:grpSpPr>
      <p:sp>
        <p:nvSpPr>
          <p:cNvPr id="31" name="Google Shape;31;p28"/>
          <p:cNvSpPr txBox="1">
            <a:spLocks noGrp="1"/>
          </p:cNvSpPr>
          <p:nvPr>
            <p:ph type="title"/>
          </p:nvPr>
        </p:nvSpPr>
        <p:spPr>
          <a:xfrm>
            <a:off x="311699" y="555600"/>
            <a:ext cx="2808001" cy="755700"/>
          </a:xfrm>
          <a:prstGeom prst="rect">
            <a:avLst/>
          </a:prstGeom>
          <a:noFill/>
          <a:ln>
            <a:noFill/>
          </a:ln>
        </p:spPr>
        <p:txBody>
          <a:bodyPr spcFirstLastPara="1" wrap="square" lIns="91400" tIns="91400" rIns="91400" bIns="91400" anchor="b" anchorCtr="0">
            <a:normAutofit/>
          </a:bodyPr>
          <a:lstStyle>
            <a:lvl1pPr lvl="0" algn="l">
              <a:lnSpc>
                <a:spcPct val="100000"/>
              </a:lnSpc>
              <a:spcBef>
                <a:spcPts val="0"/>
              </a:spcBef>
              <a:spcAft>
                <a:spcPts val="0"/>
              </a:spcAft>
              <a:buClr>
                <a:srgbClr val="000000"/>
              </a:buClr>
              <a:buSzPts val="2400"/>
              <a:buFont typeface="Arial"/>
              <a:buNone/>
              <a:defRPr sz="24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32" name="Google Shape;32;p28"/>
          <p:cNvSpPr txBox="1">
            <a:spLocks noGrp="1"/>
          </p:cNvSpPr>
          <p:nvPr>
            <p:ph type="body" idx="1"/>
          </p:nvPr>
        </p:nvSpPr>
        <p:spPr>
          <a:xfrm>
            <a:off x="311699" y="1389599"/>
            <a:ext cx="2808001" cy="3179401"/>
          </a:xfrm>
          <a:prstGeom prst="rect">
            <a:avLst/>
          </a:prstGeom>
          <a:noFill/>
          <a:ln>
            <a:noFill/>
          </a:ln>
        </p:spPr>
        <p:txBody>
          <a:bodyPr spcFirstLastPara="1" wrap="square" lIns="91400" tIns="91400" rIns="91400" bIns="91400"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33" name="Google Shape;33;p28"/>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_TITLE_AND_DESCRIPTION">
  <p:cSld name="SECTION_TITLE_AND_DESCRIPTION">
    <p:spTree>
      <p:nvGrpSpPr>
        <p:cNvPr id="1" name="Shape 34"/>
        <p:cNvGrpSpPr/>
        <p:nvPr/>
      </p:nvGrpSpPr>
      <p:grpSpPr>
        <a:xfrm>
          <a:off x="0" y="0"/>
          <a:ext cx="0" cy="0"/>
          <a:chOff x="0" y="0"/>
          <a:chExt cx="0" cy="0"/>
        </a:xfrm>
      </p:grpSpPr>
      <p:sp>
        <p:nvSpPr>
          <p:cNvPr id="35" name="Google Shape;35;p29"/>
          <p:cNvSpPr/>
          <p:nvPr/>
        </p:nvSpPr>
        <p:spPr>
          <a:xfrm>
            <a:off x="4572000" y="-125"/>
            <a:ext cx="4572000" cy="5143501"/>
          </a:xfrm>
          <a:prstGeom prst="rect">
            <a:avLst/>
          </a:prstGeom>
          <a:solidFill>
            <a:srgbClr val="EEEEEE"/>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29"/>
          <p:cNvSpPr txBox="1">
            <a:spLocks noGrp="1"/>
          </p:cNvSpPr>
          <p:nvPr>
            <p:ph type="title"/>
          </p:nvPr>
        </p:nvSpPr>
        <p:spPr>
          <a:xfrm>
            <a:off x="265500" y="1233175"/>
            <a:ext cx="4045200" cy="14823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4200"/>
              <a:buFont typeface="Arial"/>
              <a:buNone/>
              <a:defRPr sz="42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37" name="Google Shape;37;p29"/>
          <p:cNvSpPr txBox="1">
            <a:spLocks noGrp="1"/>
          </p:cNvSpPr>
          <p:nvPr>
            <p:ph type="body" idx="1"/>
          </p:nvPr>
        </p:nvSpPr>
        <p:spPr>
          <a:xfrm>
            <a:off x="265500" y="2803075"/>
            <a:ext cx="4045200" cy="12351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2100"/>
              <a:buFont typeface="Arial"/>
              <a:buNone/>
              <a:defRPr sz="2100"/>
            </a:lvl1pPr>
            <a:lvl2pPr marL="914400" lvl="1" indent="-228600" algn="ctr">
              <a:lnSpc>
                <a:spcPct val="100000"/>
              </a:lnSpc>
              <a:spcBef>
                <a:spcPts val="0"/>
              </a:spcBef>
              <a:spcAft>
                <a:spcPts val="0"/>
              </a:spcAft>
              <a:buClr>
                <a:srgbClr val="585858"/>
              </a:buClr>
              <a:buSzPts val="2100"/>
              <a:buFont typeface="Arial"/>
              <a:buNone/>
              <a:defRPr sz="2100"/>
            </a:lvl2pPr>
            <a:lvl3pPr marL="1371600" lvl="2" indent="-228600" algn="ctr">
              <a:lnSpc>
                <a:spcPct val="100000"/>
              </a:lnSpc>
              <a:spcBef>
                <a:spcPts val="0"/>
              </a:spcBef>
              <a:spcAft>
                <a:spcPts val="0"/>
              </a:spcAft>
              <a:buClr>
                <a:srgbClr val="585858"/>
              </a:buClr>
              <a:buSzPts val="2100"/>
              <a:buFont typeface="Arial"/>
              <a:buNone/>
              <a:defRPr sz="2100"/>
            </a:lvl3pPr>
            <a:lvl4pPr marL="1828800" lvl="3" indent="-228600" algn="ctr">
              <a:lnSpc>
                <a:spcPct val="100000"/>
              </a:lnSpc>
              <a:spcBef>
                <a:spcPts val="0"/>
              </a:spcBef>
              <a:spcAft>
                <a:spcPts val="0"/>
              </a:spcAft>
              <a:buClr>
                <a:srgbClr val="585858"/>
              </a:buClr>
              <a:buSzPts val="2100"/>
              <a:buFont typeface="Arial"/>
              <a:buNone/>
              <a:defRPr sz="2100"/>
            </a:lvl4pPr>
            <a:lvl5pPr marL="2286000" lvl="4" indent="-228600" algn="ctr">
              <a:lnSpc>
                <a:spcPct val="100000"/>
              </a:lnSpc>
              <a:spcBef>
                <a:spcPts val="0"/>
              </a:spcBef>
              <a:spcAft>
                <a:spcPts val="0"/>
              </a:spcAft>
              <a:buClr>
                <a:srgbClr val="585858"/>
              </a:buClr>
              <a:buSzPts val="2100"/>
              <a:buFont typeface="Arial"/>
              <a:buNone/>
              <a:defRPr sz="2100"/>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38" name="Google Shape;38;p29"/>
          <p:cNvSpPr txBox="1">
            <a:spLocks noGrp="1"/>
          </p:cNvSpPr>
          <p:nvPr>
            <p:ph type="body" idx="2"/>
          </p:nvPr>
        </p:nvSpPr>
        <p:spPr>
          <a:xfrm>
            <a:off x="4939500" y="724074"/>
            <a:ext cx="3837000" cy="3695102"/>
          </a:xfrm>
          <a:prstGeom prst="rect">
            <a:avLst/>
          </a:prstGeom>
          <a:noFill/>
          <a:ln>
            <a:noFill/>
          </a:ln>
        </p:spPr>
        <p:txBody>
          <a:bodyPr spcFirstLastPara="1" wrap="square" lIns="91400" tIns="91400" rIns="91400" bIns="91400" anchor="ctr"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39" name="Google Shape;39;p29"/>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_ONLY">
  <p:cSld name="CAPTION_ONLY">
    <p:spTree>
      <p:nvGrpSpPr>
        <p:cNvPr id="1" name="Shape 40"/>
        <p:cNvGrpSpPr/>
        <p:nvPr/>
      </p:nvGrpSpPr>
      <p:grpSpPr>
        <a:xfrm>
          <a:off x="0" y="0"/>
          <a:ext cx="0" cy="0"/>
          <a:chOff x="0" y="0"/>
          <a:chExt cx="0" cy="0"/>
        </a:xfrm>
      </p:grpSpPr>
      <p:sp>
        <p:nvSpPr>
          <p:cNvPr id="41" name="Google Shape;41;p30"/>
          <p:cNvSpPr txBox="1">
            <a:spLocks noGrp="1"/>
          </p:cNvSpPr>
          <p:nvPr>
            <p:ph type="body" idx="1"/>
          </p:nvPr>
        </p:nvSpPr>
        <p:spPr>
          <a:xfrm>
            <a:off x="311699" y="4230575"/>
            <a:ext cx="5998802" cy="605101"/>
          </a:xfrm>
          <a:prstGeom prst="rect">
            <a:avLst/>
          </a:prstGeom>
          <a:noFill/>
          <a:ln>
            <a:noFill/>
          </a:ln>
        </p:spPr>
        <p:txBody>
          <a:bodyPr spcFirstLastPara="1" wrap="square" lIns="91400" tIns="91400" rIns="91400" bIns="91400" anchor="ctr" anchorCtr="0">
            <a:normAutofit/>
          </a:bodyPr>
          <a:lstStyle>
            <a:lvl1pPr marL="457200" lvl="0" indent="-228600" algn="l">
              <a:lnSpc>
                <a:spcPct val="100000"/>
              </a:lnSpc>
              <a:spcBef>
                <a:spcPts val="0"/>
              </a:spcBef>
              <a:spcAft>
                <a:spcPts val="0"/>
              </a:spcAft>
              <a:buClr>
                <a:srgbClr val="585858"/>
              </a:buClr>
              <a:buSzPts val="1800"/>
              <a:buNone/>
              <a:defRPr/>
            </a:lvl1pPr>
          </a:lstStyle>
          <a:p>
            <a:endParaRPr/>
          </a:p>
        </p:txBody>
      </p:sp>
      <p:sp>
        <p:nvSpPr>
          <p:cNvPr id="42" name="Google Shape;42;p30"/>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_NUMBER">
  <p:cSld name="BIG_NUMBER">
    <p:spTree>
      <p:nvGrpSpPr>
        <p:cNvPr id="1" name="Shape 43"/>
        <p:cNvGrpSpPr/>
        <p:nvPr/>
      </p:nvGrpSpPr>
      <p:grpSpPr>
        <a:xfrm>
          <a:off x="0" y="0"/>
          <a:ext cx="0" cy="0"/>
          <a:chOff x="0" y="0"/>
          <a:chExt cx="0" cy="0"/>
        </a:xfrm>
      </p:grpSpPr>
      <p:sp>
        <p:nvSpPr>
          <p:cNvPr id="44" name="Google Shape;44;p31"/>
          <p:cNvSpPr txBox="1">
            <a:spLocks noGrp="1"/>
          </p:cNvSpPr>
          <p:nvPr>
            <p:ph type="title" hasCustomPrompt="1"/>
          </p:nvPr>
        </p:nvSpPr>
        <p:spPr>
          <a:xfrm>
            <a:off x="311699" y="1106125"/>
            <a:ext cx="8520602" cy="1963500"/>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12000"/>
              <a:buFont typeface="Arial"/>
              <a:buNone/>
              <a:defRPr sz="120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r>
              <a:t>xx%</a:t>
            </a:r>
          </a:p>
        </p:txBody>
      </p:sp>
      <p:sp>
        <p:nvSpPr>
          <p:cNvPr id="45" name="Google Shape;45;p31"/>
          <p:cNvSpPr txBox="1">
            <a:spLocks noGrp="1"/>
          </p:cNvSpPr>
          <p:nvPr>
            <p:ph type="body" idx="1"/>
          </p:nvPr>
        </p:nvSpPr>
        <p:spPr>
          <a:xfrm>
            <a:off x="311699" y="3152225"/>
            <a:ext cx="8520602" cy="1300800"/>
          </a:xfrm>
          <a:prstGeom prst="rect">
            <a:avLst/>
          </a:prstGeom>
          <a:noFill/>
          <a:ln>
            <a:noFill/>
          </a:ln>
        </p:spPr>
        <p:txBody>
          <a:bodyPr spcFirstLastPara="1" wrap="square" lIns="91400" tIns="91400" rIns="91400" bIns="91400" anchor="t" anchorCtr="0">
            <a:normAutofit/>
          </a:bodyPr>
          <a:lstStyle>
            <a:lvl1pPr marL="457200" lvl="0" indent="-342900" algn="ctr">
              <a:lnSpc>
                <a:spcPct val="115000"/>
              </a:lnSpc>
              <a:spcBef>
                <a:spcPts val="0"/>
              </a:spcBef>
              <a:spcAft>
                <a:spcPts val="0"/>
              </a:spcAft>
              <a:buSzPts val="1800"/>
              <a:buChar char="●"/>
              <a:defRPr/>
            </a:lvl1pPr>
            <a:lvl2pPr marL="914400" lvl="1" indent="-342900" algn="ctr">
              <a:lnSpc>
                <a:spcPct val="115000"/>
              </a:lnSpc>
              <a:spcBef>
                <a:spcPts val="0"/>
              </a:spcBef>
              <a:spcAft>
                <a:spcPts val="0"/>
              </a:spcAft>
              <a:buSzPts val="1800"/>
              <a:buChar char="○"/>
              <a:defRPr/>
            </a:lvl2pPr>
            <a:lvl3pPr marL="1371600" lvl="2" indent="-342900" algn="ctr">
              <a:lnSpc>
                <a:spcPct val="115000"/>
              </a:lnSpc>
              <a:spcBef>
                <a:spcPts val="0"/>
              </a:spcBef>
              <a:spcAft>
                <a:spcPts val="0"/>
              </a:spcAft>
              <a:buSzPts val="1800"/>
              <a:buChar char="■"/>
              <a:defRPr/>
            </a:lvl3pPr>
            <a:lvl4pPr marL="1828800" lvl="3" indent="-342900" algn="ctr">
              <a:lnSpc>
                <a:spcPct val="115000"/>
              </a:lnSpc>
              <a:spcBef>
                <a:spcPts val="0"/>
              </a:spcBef>
              <a:spcAft>
                <a:spcPts val="0"/>
              </a:spcAft>
              <a:buSzPts val="1800"/>
              <a:buChar char="●"/>
              <a:defRPr/>
            </a:lvl4pPr>
            <a:lvl5pPr marL="2286000" lvl="4" indent="-342900" algn="ctr">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46" name="Google Shape;46;p31"/>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
        <p:cNvGrpSpPr/>
        <p:nvPr/>
      </p:nvGrpSpPr>
      <p:grpSpPr>
        <a:xfrm>
          <a:off x="0" y="0"/>
          <a:ext cx="0" cy="0"/>
          <a:chOff x="0" y="0"/>
          <a:chExt cx="0" cy="0"/>
        </a:xfrm>
      </p:grpSpPr>
      <p:sp>
        <p:nvSpPr>
          <p:cNvPr id="48" name="Google Shape;48;p32"/>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marR="0" lvl="0"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311699" y="1152475"/>
            <a:ext cx="8520602" cy="3416400"/>
          </a:xfrm>
          <a:prstGeom prst="rect">
            <a:avLst/>
          </a:prstGeom>
          <a:noFill/>
          <a:ln>
            <a:noFill/>
          </a:ln>
        </p:spPr>
        <p:txBody>
          <a:bodyPr spcFirstLastPara="1" wrap="square" lIns="91400" tIns="91400" rIns="91400" bIns="91400" anchor="t" anchorCtr="0">
            <a:normAutofit/>
          </a:bodyPr>
          <a:lstStyle>
            <a:lvl1pPr marL="457200" marR="0" lvl="0"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1pPr>
            <a:lvl2pPr marL="914400" marR="0" lvl="1"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2pPr>
            <a:lvl3pPr marL="1371600" marR="0" lvl="2"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3pPr>
            <a:lvl4pPr marL="1828800" marR="0" lvl="3"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4pPr>
            <a:lvl5pPr marL="2286000" marR="0" lvl="4"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5pPr>
            <a:lvl6pPr marL="2743200" marR="0" lvl="5"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6pPr>
            <a:lvl7pPr marL="3200400" marR="0" lvl="6"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7pPr>
            <a:lvl8pPr marL="3657600" marR="0" lvl="7"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8pPr>
            <a:lvl9pPr marL="4114800" marR="0" lvl="8"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9pPr>
          </a:lstStyle>
          <a:p>
            <a:endParaRPr/>
          </a:p>
        </p:txBody>
      </p:sp>
      <p:sp>
        <p:nvSpPr>
          <p:cNvPr id="8" name="Google Shape;8;p21"/>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1"/>
          <p:cNvSpPr txBox="1">
            <a:spLocks noGrp="1"/>
          </p:cNvSpPr>
          <p:nvPr>
            <p:ph type="ctrTitle" idx="4294967295"/>
          </p:nvPr>
        </p:nvSpPr>
        <p:spPr>
          <a:xfrm>
            <a:off x="0" y="219282"/>
            <a:ext cx="9144000" cy="1299641"/>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5200"/>
              <a:buFont typeface="Arial"/>
              <a:buNone/>
            </a:pPr>
            <a:br>
              <a:rPr lang="en-US" sz="2000" b="1" i="0" u="none" strike="noStrike" cap="none" dirty="0">
                <a:solidFill>
                  <a:srgbClr val="000000"/>
                </a:solidFill>
                <a:latin typeface="Times New Roman"/>
                <a:ea typeface="Times New Roman"/>
                <a:cs typeface="Times New Roman"/>
                <a:sym typeface="Times New Roman"/>
              </a:rPr>
            </a:br>
            <a:br>
              <a:rPr lang="en-US" sz="2000" b="1" i="0" u="none" strike="noStrike" cap="none" dirty="0">
                <a:solidFill>
                  <a:srgbClr val="000000"/>
                </a:solidFill>
                <a:latin typeface="Times New Roman"/>
                <a:ea typeface="Times New Roman"/>
                <a:cs typeface="Times New Roman"/>
                <a:sym typeface="Times New Roman"/>
              </a:rPr>
            </a:br>
            <a:br>
              <a:rPr lang="en-US" sz="2000" b="1" i="0" u="none" strike="noStrike" cap="none" dirty="0">
                <a:solidFill>
                  <a:srgbClr val="000000"/>
                </a:solidFill>
                <a:latin typeface="Times New Roman"/>
                <a:ea typeface="Times New Roman"/>
                <a:cs typeface="Times New Roman"/>
                <a:sym typeface="Times New Roman"/>
              </a:rPr>
            </a:br>
            <a:r>
              <a:rPr lang="en-US" sz="2000" b="1" i="0" u="none" strike="noStrike" cap="none" dirty="0">
                <a:solidFill>
                  <a:srgbClr val="000000"/>
                </a:solidFill>
                <a:latin typeface="Times New Roman"/>
                <a:ea typeface="Times New Roman"/>
                <a:cs typeface="Times New Roman"/>
                <a:sym typeface="Times New Roman"/>
              </a:rPr>
              <a:t>Gokaraju </a:t>
            </a:r>
            <a:r>
              <a:rPr lang="en-US" sz="2000" b="1" i="0" u="none" strike="noStrike" cap="none" dirty="0" err="1">
                <a:solidFill>
                  <a:srgbClr val="000000"/>
                </a:solidFill>
                <a:latin typeface="Times New Roman"/>
                <a:ea typeface="Times New Roman"/>
                <a:cs typeface="Times New Roman"/>
                <a:sym typeface="Times New Roman"/>
              </a:rPr>
              <a:t>Rangaraju</a:t>
            </a:r>
            <a:r>
              <a:rPr lang="en-US" sz="2000" b="1" i="0" u="none" strike="noStrike" cap="none" dirty="0">
                <a:solidFill>
                  <a:srgbClr val="000000"/>
                </a:solidFill>
                <a:latin typeface="Times New Roman"/>
                <a:ea typeface="Times New Roman"/>
                <a:cs typeface="Times New Roman"/>
                <a:sym typeface="Times New Roman"/>
              </a:rPr>
              <a:t> Institute of Engineering and Technology </a:t>
            </a:r>
            <a:br>
              <a:rPr lang="en-US" sz="2000" b="1" i="0" u="none" strike="noStrike" cap="none" dirty="0">
                <a:solidFill>
                  <a:srgbClr val="000000"/>
                </a:solidFill>
                <a:latin typeface="Times New Roman"/>
                <a:ea typeface="Times New Roman"/>
                <a:cs typeface="Times New Roman"/>
                <a:sym typeface="Times New Roman"/>
              </a:rPr>
            </a:br>
            <a:r>
              <a:rPr lang="en-US" sz="2000" b="1" i="0" u="none" strike="noStrike" cap="none" dirty="0">
                <a:solidFill>
                  <a:srgbClr val="000000"/>
                </a:solidFill>
                <a:latin typeface="Times New Roman"/>
                <a:ea typeface="Times New Roman"/>
                <a:cs typeface="Times New Roman"/>
                <a:sym typeface="Times New Roman"/>
              </a:rPr>
              <a:t>(Autonomous)</a:t>
            </a:r>
            <a:br>
              <a:rPr lang="en-US" sz="2000" b="1" i="0" u="none" strike="noStrike" cap="none" dirty="0">
                <a:solidFill>
                  <a:srgbClr val="000000"/>
                </a:solidFill>
                <a:latin typeface="Times New Roman"/>
                <a:ea typeface="Times New Roman"/>
                <a:cs typeface="Times New Roman"/>
                <a:sym typeface="Times New Roman"/>
              </a:rPr>
            </a:br>
            <a:r>
              <a:rPr lang="en-US" sz="1800" b="1" i="0" u="none" strike="noStrike" cap="none" dirty="0">
                <a:solidFill>
                  <a:srgbClr val="000000"/>
                </a:solidFill>
                <a:latin typeface="Times New Roman"/>
                <a:ea typeface="Times New Roman"/>
                <a:cs typeface="Times New Roman"/>
                <a:sym typeface="Times New Roman"/>
              </a:rPr>
              <a:t>Department of C</a:t>
            </a:r>
            <a:r>
              <a:rPr lang="en-US" sz="1800" b="1" dirty="0">
                <a:latin typeface="Times New Roman"/>
                <a:ea typeface="Times New Roman"/>
                <a:cs typeface="Times New Roman"/>
                <a:sym typeface="Times New Roman"/>
              </a:rPr>
              <a:t>SE(AI&amp;ML)</a:t>
            </a:r>
            <a:endParaRPr sz="18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5200"/>
              <a:buFont typeface="Arial"/>
              <a:buNone/>
            </a:pPr>
            <a:r>
              <a:rPr lang="en-US" sz="1800" b="1" i="0" u="none" strike="noStrike" cap="none" dirty="0">
                <a:solidFill>
                  <a:srgbClr val="000000"/>
                </a:solidFill>
                <a:latin typeface="Times New Roman"/>
                <a:ea typeface="Times New Roman"/>
                <a:cs typeface="Times New Roman"/>
                <a:sym typeface="Times New Roman"/>
              </a:rPr>
              <a:t>Mini Project With Seminar</a:t>
            </a:r>
            <a:endParaRPr sz="1800" b="1" i="0" u="none" strike="noStrike" cap="none" dirty="0">
              <a:solidFill>
                <a:srgbClr val="000000"/>
              </a:solidFill>
              <a:latin typeface="Times New Roman"/>
              <a:ea typeface="Times New Roman"/>
              <a:cs typeface="Times New Roman"/>
              <a:sym typeface="Times New Roman"/>
            </a:endParaRPr>
          </a:p>
        </p:txBody>
      </p:sp>
      <p:sp>
        <p:nvSpPr>
          <p:cNvPr id="54" name="Google Shape;54;p1"/>
          <p:cNvSpPr txBox="1">
            <a:spLocks noGrp="1"/>
          </p:cNvSpPr>
          <p:nvPr>
            <p:ph type="subTitle" idx="4294967295"/>
          </p:nvPr>
        </p:nvSpPr>
        <p:spPr>
          <a:xfrm>
            <a:off x="311700" y="2614380"/>
            <a:ext cx="8520600" cy="634149"/>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Clr>
                <a:srgbClr val="585858"/>
              </a:buClr>
              <a:buSzPts val="3027"/>
              <a:buFont typeface="Arial"/>
              <a:buNone/>
            </a:pPr>
            <a:r>
              <a:rPr lang="en-US" sz="2400" b="1">
                <a:solidFill>
                  <a:schemeClr val="dk1"/>
                </a:solidFill>
                <a:latin typeface="Times New Roman"/>
                <a:ea typeface="Times New Roman"/>
                <a:cs typeface="Times New Roman"/>
                <a:sym typeface="Times New Roman"/>
              </a:rPr>
              <a:t>TITLE</a:t>
            </a:r>
            <a:endParaRPr/>
          </a:p>
        </p:txBody>
      </p:sp>
      <p:pic>
        <p:nvPicPr>
          <p:cNvPr id="55" name="Google Shape;55;p1" descr="Untitled-1 copy"/>
          <p:cNvPicPr preferRelativeResize="0"/>
          <p:nvPr/>
        </p:nvPicPr>
        <p:blipFill rotWithShape="1">
          <a:blip r:embed="rId3">
            <a:alphaModFix/>
          </a:blip>
          <a:srcRect l="25562" t="23018" r="26994" b="21857"/>
          <a:stretch/>
        </p:blipFill>
        <p:spPr>
          <a:xfrm>
            <a:off x="4089400" y="1618619"/>
            <a:ext cx="965200" cy="882947"/>
          </a:xfrm>
          <a:prstGeom prst="rect">
            <a:avLst/>
          </a:prstGeom>
          <a:noFill/>
          <a:ln>
            <a:noFill/>
          </a:ln>
        </p:spPr>
      </p:pic>
      <p:sp>
        <p:nvSpPr>
          <p:cNvPr id="56" name="Google Shape;56;p1"/>
          <p:cNvSpPr txBox="1"/>
          <p:nvPr/>
        </p:nvSpPr>
        <p:spPr>
          <a:xfrm>
            <a:off x="446421" y="3317801"/>
            <a:ext cx="3272548" cy="1343377"/>
          </a:xfrm>
          <a:prstGeom prst="rect">
            <a:avLst/>
          </a:prstGeom>
          <a:noFill/>
          <a:ln>
            <a:noFill/>
          </a:ln>
        </p:spPr>
        <p:txBody>
          <a:bodyPr spcFirstLastPara="1" wrap="square" lIns="121900" tIns="121900" rIns="121900" bIns="121900" anchor="t" anchorCtr="0">
            <a:normAutofit lnSpcReduction="10000"/>
          </a:bodyPr>
          <a:lstStyle/>
          <a:p>
            <a:pPr marL="0" marR="0" lvl="0" indent="0" algn="l" rtl="0">
              <a:lnSpc>
                <a:spcPct val="100000"/>
              </a:lnSpc>
              <a:spcBef>
                <a:spcPts val="0"/>
              </a:spcBef>
              <a:spcAft>
                <a:spcPts val="0"/>
              </a:spcAft>
              <a:buClr>
                <a:srgbClr val="44546A"/>
              </a:buClr>
              <a:buSzPts val="2800"/>
              <a:buFont typeface="Arial"/>
              <a:buNone/>
            </a:pPr>
            <a:r>
              <a:rPr lang="en-US" sz="2000" b="1" i="0" u="none" strike="noStrike" cap="none" dirty="0">
                <a:solidFill>
                  <a:srgbClr val="000000"/>
                </a:solidFill>
                <a:latin typeface="Times New Roman"/>
                <a:ea typeface="Times New Roman"/>
                <a:cs typeface="Times New Roman"/>
                <a:sym typeface="Times New Roman"/>
              </a:rPr>
              <a:t>Under the Guidance of:</a:t>
            </a:r>
            <a:endParaRPr dirty="0"/>
          </a:p>
          <a:p>
            <a:pPr marL="0" marR="0" lvl="0" indent="0" algn="l" rtl="0">
              <a:lnSpc>
                <a:spcPct val="100000"/>
              </a:lnSpc>
              <a:spcBef>
                <a:spcPts val="0"/>
              </a:spcBef>
              <a:spcAft>
                <a:spcPts val="0"/>
              </a:spcAft>
              <a:buClr>
                <a:srgbClr val="44546A"/>
              </a:buClr>
              <a:buSzPts val="2800"/>
              <a:buFont typeface="Arial"/>
              <a:buNone/>
            </a:pPr>
            <a:r>
              <a:rPr lang="en-US" sz="2000" b="0" i="0" u="none" strike="noStrike" cap="none" dirty="0">
                <a:solidFill>
                  <a:srgbClr val="000000"/>
                </a:solidFill>
                <a:latin typeface="Times New Roman"/>
                <a:ea typeface="Times New Roman"/>
                <a:cs typeface="Times New Roman"/>
                <a:sym typeface="Times New Roman"/>
              </a:rPr>
              <a:t>Dr. M</a:t>
            </a:r>
            <a:r>
              <a:rPr lang="en-US" sz="2000" dirty="0">
                <a:latin typeface="Times New Roman"/>
                <a:ea typeface="Times New Roman"/>
                <a:cs typeface="Times New Roman"/>
                <a:sym typeface="Times New Roman"/>
              </a:rPr>
              <a:t>. Shamila</a:t>
            </a:r>
            <a:r>
              <a:rPr lang="en-US" sz="2000" b="0" i="0" u="none" strike="noStrike" cap="none" dirty="0">
                <a:solidFill>
                  <a:srgbClr val="000000"/>
                </a:solidFill>
                <a:latin typeface="Times New Roman"/>
                <a:ea typeface="Times New Roman"/>
                <a:cs typeface="Times New Roman"/>
                <a:sym typeface="Times New Roman"/>
              </a:rPr>
              <a:t>,</a:t>
            </a:r>
            <a:endParaRPr dirty="0"/>
          </a:p>
          <a:p>
            <a:pPr marL="0" marR="0" lvl="0" indent="0" algn="l" rtl="0">
              <a:lnSpc>
                <a:spcPct val="100000"/>
              </a:lnSpc>
              <a:spcBef>
                <a:spcPts val="0"/>
              </a:spcBef>
              <a:spcAft>
                <a:spcPts val="0"/>
              </a:spcAft>
              <a:buClr>
                <a:srgbClr val="44546A"/>
              </a:buClr>
              <a:buSzPts val="2800"/>
              <a:buFont typeface="Arial"/>
              <a:buNone/>
            </a:pPr>
            <a:r>
              <a:rPr lang="en-US" sz="2000" b="0" i="0" u="none" strike="noStrike" cap="none" dirty="0">
                <a:solidFill>
                  <a:srgbClr val="000000"/>
                </a:solidFill>
                <a:latin typeface="Times New Roman"/>
                <a:ea typeface="Times New Roman"/>
                <a:cs typeface="Times New Roman"/>
                <a:sym typeface="Times New Roman"/>
              </a:rPr>
              <a:t>Assistant Professor,</a:t>
            </a:r>
            <a:endParaRPr dirty="0"/>
          </a:p>
          <a:p>
            <a:pPr marL="0" marR="0" lvl="0" indent="0" algn="l" rtl="0">
              <a:lnSpc>
                <a:spcPct val="100000"/>
              </a:lnSpc>
              <a:spcBef>
                <a:spcPts val="0"/>
              </a:spcBef>
              <a:spcAft>
                <a:spcPts val="0"/>
              </a:spcAft>
              <a:buClr>
                <a:srgbClr val="44546A"/>
              </a:buClr>
              <a:buSzPts val="2800"/>
              <a:buFont typeface="Arial"/>
              <a:buNone/>
            </a:pPr>
            <a:r>
              <a:rPr lang="en-US" sz="1800" b="0" i="0" u="none" strike="noStrike" cap="none" dirty="0">
                <a:solidFill>
                  <a:srgbClr val="000000"/>
                </a:solidFill>
                <a:latin typeface="Times New Roman"/>
                <a:ea typeface="Times New Roman"/>
                <a:cs typeface="Times New Roman"/>
                <a:sym typeface="Times New Roman"/>
              </a:rPr>
              <a:t>GRIET</a:t>
            </a:r>
            <a:endParaRPr dirty="0"/>
          </a:p>
        </p:txBody>
      </p:sp>
      <p:sp>
        <p:nvSpPr>
          <p:cNvPr id="57" name="Google Shape;57;p1"/>
          <p:cNvSpPr txBox="1"/>
          <p:nvPr/>
        </p:nvSpPr>
        <p:spPr>
          <a:xfrm>
            <a:off x="4344087" y="3229367"/>
            <a:ext cx="4130839" cy="1495033"/>
          </a:xfrm>
          <a:prstGeom prst="rect">
            <a:avLst/>
          </a:prstGeom>
          <a:noFill/>
          <a:ln>
            <a:noFill/>
          </a:ln>
        </p:spPr>
        <p:txBody>
          <a:bodyPr spcFirstLastPara="1" wrap="square" lIns="121900" tIns="121900" rIns="121900" bIns="121900" anchor="t" anchorCtr="0">
            <a:normAutofit fontScale="92500"/>
          </a:bodyPr>
          <a:lstStyle/>
          <a:p>
            <a:pPr marL="0" marR="0" lvl="0" indent="0" algn="l" rtl="0">
              <a:lnSpc>
                <a:spcPct val="100000"/>
              </a:lnSpc>
              <a:spcBef>
                <a:spcPts val="0"/>
              </a:spcBef>
              <a:spcAft>
                <a:spcPts val="0"/>
              </a:spcAft>
              <a:buClr>
                <a:schemeClr val="dk2"/>
              </a:buClr>
              <a:buSzPts val="2800"/>
              <a:buFont typeface="Arial"/>
              <a:buNone/>
            </a:pPr>
            <a:r>
              <a:rPr lang="en-US" sz="2000" b="1" i="0" u="none" strike="noStrike" cap="none" dirty="0">
                <a:solidFill>
                  <a:schemeClr val="dk1"/>
                </a:solidFill>
                <a:latin typeface="Times New Roman"/>
                <a:ea typeface="Times New Roman"/>
                <a:cs typeface="Times New Roman"/>
                <a:sym typeface="Times New Roman"/>
              </a:rPr>
              <a:t>Presented by:</a:t>
            </a:r>
            <a:endParaRPr dirty="0"/>
          </a:p>
          <a:p>
            <a:pPr marL="0" marR="0" lvl="0" indent="0" algn="l" rtl="0">
              <a:lnSpc>
                <a:spcPct val="100000"/>
              </a:lnSpc>
              <a:spcBef>
                <a:spcPts val="0"/>
              </a:spcBef>
              <a:spcAft>
                <a:spcPts val="0"/>
              </a:spcAft>
              <a:buClr>
                <a:schemeClr val="dk2"/>
              </a:buClr>
              <a:buSzPts val="2800"/>
              <a:buFont typeface="Arial"/>
              <a:buNone/>
            </a:pPr>
            <a:r>
              <a:rPr lang="en-US" sz="2000" b="0" i="0" u="none" strike="noStrike" cap="none" dirty="0">
                <a:solidFill>
                  <a:schemeClr val="dk1"/>
                </a:solidFill>
                <a:latin typeface="Times New Roman"/>
                <a:ea typeface="Times New Roman"/>
                <a:cs typeface="Times New Roman"/>
                <a:sym typeface="Times New Roman"/>
              </a:rPr>
              <a:t>1. </a:t>
            </a:r>
            <a:r>
              <a:rPr lang="en-US" sz="2000" dirty="0">
                <a:solidFill>
                  <a:schemeClr val="dk1"/>
                </a:solidFill>
                <a:latin typeface="Times New Roman"/>
                <a:ea typeface="Times New Roman"/>
                <a:cs typeface="Times New Roman"/>
                <a:sym typeface="Times New Roman"/>
              </a:rPr>
              <a:t>A Anirudh Sharma</a:t>
            </a:r>
            <a:r>
              <a:rPr lang="en-US" sz="2000" b="0" i="0" u="none" strike="noStrike" cap="none" dirty="0">
                <a:solidFill>
                  <a:schemeClr val="dk1"/>
                </a:solidFill>
                <a:latin typeface="Times New Roman"/>
                <a:ea typeface="Times New Roman"/>
                <a:cs typeface="Times New Roman"/>
                <a:sym typeface="Times New Roman"/>
              </a:rPr>
              <a:t> (23241A6602)</a:t>
            </a:r>
            <a:endParaRPr dirty="0"/>
          </a:p>
          <a:p>
            <a:pPr lvl="0">
              <a:buClr>
                <a:schemeClr val="dk2"/>
              </a:buClr>
              <a:buSzPts val="2800"/>
            </a:pPr>
            <a:r>
              <a:rPr lang="en-US" sz="2000" b="0" i="0" u="none" strike="noStrike" cap="none" dirty="0">
                <a:solidFill>
                  <a:schemeClr val="dk1"/>
                </a:solidFill>
                <a:latin typeface="Times New Roman"/>
                <a:ea typeface="Times New Roman"/>
                <a:cs typeface="Times New Roman"/>
                <a:sym typeface="Times New Roman"/>
              </a:rPr>
              <a:t>2. </a:t>
            </a:r>
            <a:r>
              <a:rPr lang="en-US" sz="2000" dirty="0">
                <a:solidFill>
                  <a:schemeClr val="dk1"/>
                </a:solidFill>
                <a:latin typeface="Times New Roman"/>
                <a:ea typeface="Times New Roman"/>
                <a:cs typeface="Times New Roman"/>
                <a:sym typeface="Times New Roman"/>
              </a:rPr>
              <a:t>Palvai Danny</a:t>
            </a:r>
            <a:r>
              <a:rPr lang="en-US" sz="2000" b="0" i="0" u="none" strike="noStrike" cap="none" dirty="0">
                <a:solidFill>
                  <a:schemeClr val="dk1"/>
                </a:solidFill>
                <a:latin typeface="Times New Roman"/>
                <a:ea typeface="Times New Roman"/>
                <a:cs typeface="Times New Roman"/>
                <a:sym typeface="Times New Roman"/>
              </a:rPr>
              <a:t> (</a:t>
            </a:r>
            <a:r>
              <a:rPr lang="en-US" sz="2000" dirty="0">
                <a:solidFill>
                  <a:schemeClr val="dk1"/>
                </a:solidFill>
                <a:latin typeface="Times New Roman"/>
                <a:ea typeface="Times New Roman"/>
                <a:cs typeface="Times New Roman"/>
                <a:sym typeface="Times New Roman"/>
              </a:rPr>
              <a:t>23241A6602</a:t>
            </a:r>
            <a:r>
              <a:rPr lang="en-US" sz="2000" b="0" i="0" u="none" strike="noStrike" cap="none" dirty="0">
                <a:solidFill>
                  <a:schemeClr val="dk1"/>
                </a:solidFill>
                <a:latin typeface="Times New Roman"/>
                <a:ea typeface="Times New Roman"/>
                <a:cs typeface="Times New Roman"/>
                <a:sym typeface="Times New Roman"/>
              </a:rPr>
              <a:t>)</a:t>
            </a:r>
            <a:endParaRPr dirty="0"/>
          </a:p>
          <a:p>
            <a:pPr marL="0" marR="0" lvl="0" indent="0" algn="l" rtl="0">
              <a:lnSpc>
                <a:spcPct val="100000"/>
              </a:lnSpc>
              <a:spcBef>
                <a:spcPts val="0"/>
              </a:spcBef>
              <a:spcAft>
                <a:spcPts val="0"/>
              </a:spcAft>
              <a:buClr>
                <a:schemeClr val="dk2"/>
              </a:buClr>
              <a:buSzPts val="2800"/>
              <a:buFont typeface="Arial"/>
              <a:buNone/>
            </a:pPr>
            <a:r>
              <a:rPr lang="en-US" sz="2000" b="0" i="0" u="none" strike="noStrike" cap="none" dirty="0">
                <a:solidFill>
                  <a:schemeClr val="dk1"/>
                </a:solidFill>
                <a:latin typeface="Times New Roman"/>
                <a:ea typeface="Times New Roman"/>
                <a:cs typeface="Times New Roman"/>
                <a:sym typeface="Times New Roman"/>
              </a:rPr>
              <a:t>3. </a:t>
            </a:r>
            <a:r>
              <a:rPr lang="en-US" sz="2000" dirty="0">
                <a:solidFill>
                  <a:schemeClr val="dk1"/>
                </a:solidFill>
                <a:latin typeface="Times New Roman"/>
                <a:ea typeface="Times New Roman"/>
                <a:cs typeface="Times New Roman"/>
                <a:sym typeface="Times New Roman"/>
              </a:rPr>
              <a:t>V. Sai Suneeth Varma</a:t>
            </a:r>
            <a:r>
              <a:rPr lang="en-US" sz="2000" b="0" i="0" u="none" strike="noStrike" cap="none" dirty="0">
                <a:solidFill>
                  <a:schemeClr val="dk1"/>
                </a:solidFill>
                <a:latin typeface="Times New Roman"/>
                <a:ea typeface="Times New Roman"/>
                <a:cs typeface="Times New Roman"/>
                <a:sym typeface="Times New Roman"/>
              </a:rPr>
              <a:t> (2425A6607)</a:t>
            </a:r>
            <a:endParaRPr dirty="0"/>
          </a:p>
          <a:p>
            <a:pPr marL="457200" marR="0" lvl="0" indent="-279400" algn="l" rtl="0">
              <a:lnSpc>
                <a:spcPct val="100000"/>
              </a:lnSpc>
              <a:spcBef>
                <a:spcPts val="0"/>
              </a:spcBef>
              <a:spcAft>
                <a:spcPts val="0"/>
              </a:spcAft>
              <a:buClr>
                <a:schemeClr val="dk2"/>
              </a:buClr>
              <a:buSzPts val="2800"/>
              <a:buFont typeface="Arial"/>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2"/>
              </a:buClr>
              <a:buSzPts val="2800"/>
              <a:buFont typeface="Arial"/>
              <a:buNone/>
            </a:pPr>
            <a:endParaRPr sz="2000" b="1" i="0" u="none" strike="noStrike" cap="none" dirty="0">
              <a:solidFill>
                <a:schemeClr val="dk1"/>
              </a:solidFill>
              <a:latin typeface="Times New Roman"/>
              <a:ea typeface="Times New Roman"/>
              <a:cs typeface="Times New Roman"/>
              <a:sym typeface="Times New Roman"/>
            </a:endParaRPr>
          </a:p>
        </p:txBody>
      </p:sp>
      <p:sp>
        <p:nvSpPr>
          <p:cNvPr id="58" name="Google Shape;58;p1"/>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9"/>
          <p:cNvSpPr txBox="1">
            <a:spLocks noGrp="1"/>
          </p:cNvSpPr>
          <p:nvPr>
            <p:ph type="title"/>
          </p:nvPr>
        </p:nvSpPr>
        <p:spPr>
          <a:xfrm>
            <a:off x="311699" y="95250"/>
            <a:ext cx="8520602" cy="681811"/>
          </a:xfrm>
          <a:prstGeom prst="rect">
            <a:avLst/>
          </a:prstGeom>
          <a:noFill/>
          <a:ln>
            <a:noFill/>
          </a:ln>
        </p:spPr>
        <p:txBody>
          <a:bodyPr spcFirstLastPara="1" wrap="square" lIns="91400" tIns="91400" rIns="91400" bIns="91400" anchor="t" anchorCtr="0">
            <a:normAutofit fontScale="90000"/>
          </a:bodyPr>
          <a:lstStyle/>
          <a:p>
            <a:pPr marL="0" lvl="0" indent="0" algn="ctr" rtl="0">
              <a:lnSpc>
                <a:spcPct val="100000"/>
              </a:lnSpc>
              <a:spcBef>
                <a:spcPts val="0"/>
              </a:spcBef>
              <a:spcAft>
                <a:spcPts val="0"/>
              </a:spcAft>
              <a:buSzPct val="56258"/>
              <a:buNone/>
            </a:pPr>
            <a:r>
              <a:rPr lang="en-US" sz="3555">
                <a:latin typeface="Times New Roman"/>
                <a:ea typeface="Times New Roman"/>
                <a:cs typeface="Times New Roman"/>
                <a:sym typeface="Times New Roman"/>
              </a:rPr>
              <a:t>Abstract</a:t>
            </a:r>
            <a:endParaRPr/>
          </a:p>
        </p:txBody>
      </p:sp>
      <p:sp>
        <p:nvSpPr>
          <p:cNvPr id="191" name="Google Shape;191;p19"/>
          <p:cNvSpPr txBox="1">
            <a:spLocks noGrp="1"/>
          </p:cNvSpPr>
          <p:nvPr>
            <p:ph type="body" idx="1"/>
          </p:nvPr>
        </p:nvSpPr>
        <p:spPr>
          <a:xfrm>
            <a:off x="311699" y="711201"/>
            <a:ext cx="8520602" cy="4241799"/>
          </a:xfrm>
          <a:prstGeom prst="rect">
            <a:avLst/>
          </a:prstGeom>
          <a:noFill/>
          <a:ln>
            <a:noFill/>
          </a:ln>
        </p:spPr>
        <p:txBody>
          <a:bodyPr spcFirstLastPara="1" wrap="square" lIns="91400" tIns="91400" rIns="91400" bIns="91400" anchor="t" anchorCtr="0">
            <a:noAutofit/>
          </a:bodyPr>
          <a:lstStyle/>
          <a:p>
            <a:pPr marL="114300" lvl="0" indent="0" algn="just">
              <a:buNone/>
            </a:pPr>
            <a:r>
              <a:rPr lang="en-US" sz="1600" dirty="0"/>
              <a:t>Reinforcement learning (RL) is a machine learning approach where an agent learns to make decisions by interacting with an environment to maximize cumulative reward. The field has come a long way since then, evolving and maturing in several directions. Reinforcement learning has gradually become one of the most active research areas in machine learning, artificial intelligence, and neural network research. </a:t>
            </a:r>
          </a:p>
          <a:p>
            <a:pPr marL="114300" lvl="0" indent="0" algn="just">
              <a:buNone/>
            </a:pPr>
            <a:r>
              <a:rPr lang="en-US" sz="1600" dirty="0"/>
              <a:t>This research explores the application of Deep Q-Network (DQN) algorithms to the problem of optimizing chess piece movement, a fundamental aspect of chess strategy. This work aims to develop an AI agent capable of making precise and effective moves.</a:t>
            </a:r>
          </a:p>
          <a:p>
            <a:pPr marL="114300" lvl="0" indent="0" algn="just">
              <a:buNone/>
            </a:pPr>
            <a:r>
              <a:rPr lang="en-US" sz="1600" dirty="0"/>
              <a:t>The DQN algorithm is utilized to approximate the optimal Q-values for each possible movement, allowing the agent to learn the best actions from given board states. Training is conducted through self-play, where the agent receives feedback based on the outcomes of its moves, including rewards for advantageous positions and penalties for errors. </a:t>
            </a:r>
          </a:p>
          <a:p>
            <a:pPr marL="114300" lvl="0" indent="0" algn="just">
              <a:buNone/>
            </a:pPr>
            <a:r>
              <a:rPr lang="en-US" sz="1600" dirty="0"/>
              <a:t>This study demonstrates the potential of reinforcement learning in enhancing the tactical capabilities of chess playing-agents</a:t>
            </a:r>
            <a:endParaRPr sz="1679" dirty="0">
              <a:solidFill>
                <a:schemeClr val="dk1"/>
              </a:solidFill>
              <a:latin typeface="Times New Roman"/>
              <a:ea typeface="Times New Roman"/>
              <a:cs typeface="Times New Roman"/>
              <a:sym typeface="Times New Roman"/>
            </a:endParaRPr>
          </a:p>
        </p:txBody>
      </p:sp>
      <p:sp>
        <p:nvSpPr>
          <p:cNvPr id="192" name="Google Shape;192;p19"/>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2"/>
          <p:cNvSpPr txBox="1">
            <a:spLocks noGrp="1"/>
          </p:cNvSpPr>
          <p:nvPr>
            <p:ph type="title"/>
          </p:nvPr>
        </p:nvSpPr>
        <p:spPr>
          <a:prstGeom prst="rect">
            <a:avLst/>
          </a:prstGeom>
          <a:noFill/>
          <a:ln>
            <a:noFill/>
          </a:ln>
        </p:spPr>
        <p:txBody>
          <a:bodyPr spcFirstLastPara="1" wrap="square" lIns="91400" tIns="91400" rIns="91400" bIns="91400" anchor="t" anchorCtr="0">
            <a:normAutofit fontScale="90000"/>
          </a:bodyPr>
          <a:lstStyle/>
          <a:p>
            <a:pPr marL="0" lvl="0" indent="0" algn="ctr" rtl="0">
              <a:lnSpc>
                <a:spcPct val="100000"/>
              </a:lnSpc>
              <a:spcBef>
                <a:spcPts val="0"/>
              </a:spcBef>
              <a:spcAft>
                <a:spcPts val="0"/>
              </a:spcAft>
              <a:buSzPct val="56258"/>
              <a:buNone/>
            </a:pPr>
            <a:r>
              <a:rPr lang="en-US" sz="3555" dirty="0">
                <a:latin typeface="Times New Roman"/>
                <a:ea typeface="Times New Roman"/>
                <a:cs typeface="Times New Roman"/>
                <a:sym typeface="Times New Roman"/>
              </a:rPr>
              <a:t>1. Introduction</a:t>
            </a:r>
            <a:endParaRPr dirty="0"/>
          </a:p>
        </p:txBody>
      </p:sp>
      <p:sp>
        <p:nvSpPr>
          <p:cNvPr id="66" name="Google Shape;66;p2"/>
          <p:cNvSpPr txBox="1">
            <a:spLocks noGrp="1"/>
          </p:cNvSpPr>
          <p:nvPr>
            <p:ph type="sldNum" idx="12"/>
          </p:nvPr>
        </p:nvSpPr>
        <p:spPr>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3</a:t>
            </a:fld>
            <a:endParaRPr/>
          </a:p>
        </p:txBody>
      </p:sp>
      <p:sp>
        <p:nvSpPr>
          <p:cNvPr id="67" name="Google Shape;67;p2" descr="Everything You Need to Know About IoT | Checkbox Technology"/>
          <p:cNvSpPr/>
          <p:nvPr/>
        </p:nvSpPr>
        <p:spPr>
          <a:xfrm>
            <a:off x="4419600" y="241935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 name="Rectangle 2">
            <a:extLst>
              <a:ext uri="{FF2B5EF4-FFF2-40B4-BE49-F238E27FC236}">
                <a16:creationId xmlns:a16="http://schemas.microsoft.com/office/drawing/2014/main" id="{76FEE4E4-9F09-74D3-6E22-40F27EC4E442}"/>
              </a:ext>
            </a:extLst>
          </p:cNvPr>
          <p:cNvSpPr>
            <a:spLocks noGrp="1" noChangeArrowheads="1"/>
          </p:cNvSpPr>
          <p:nvPr>
            <p:ph type="body" idx="1"/>
          </p:nvPr>
        </p:nvSpPr>
        <p:spPr bwMode="auto">
          <a:xfrm>
            <a:off x="586740" y="1429514"/>
            <a:ext cx="809760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Chess is a complex strategic game that requires intelligent decision-making and long-term planning.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Traditional chess engines rely on predefined rules and search algorithms, which become computationally expensive as game complexity increases.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Artificial Intelligence (AI)</a:t>
            </a:r>
            <a:r>
              <a:rPr kumimoji="0" lang="en-US" altLang="en-US" sz="1800" b="0" i="0" u="none" strike="noStrike" cap="none" normalizeH="0" baseline="0" dirty="0">
                <a:ln>
                  <a:noFill/>
                </a:ln>
                <a:solidFill>
                  <a:schemeClr val="tx1"/>
                </a:solidFill>
                <a:effectLst/>
                <a:latin typeface="Arial" panose="020B0604020202020204" pitchFamily="34" charset="0"/>
              </a:rPr>
              <a:t>, especially </a:t>
            </a:r>
            <a:r>
              <a:rPr kumimoji="0" lang="en-US" altLang="en-US" sz="1800" b="1" i="0" u="none" strike="noStrike" cap="none" normalizeH="0" baseline="0" dirty="0">
                <a:ln>
                  <a:noFill/>
                </a:ln>
                <a:solidFill>
                  <a:schemeClr val="tx1"/>
                </a:solidFill>
                <a:effectLst/>
                <a:latin typeface="Arial" panose="020B0604020202020204" pitchFamily="34" charset="0"/>
              </a:rPr>
              <a:t>Reinforcement Learning (RL)</a:t>
            </a:r>
            <a:r>
              <a:rPr kumimoji="0" lang="en-US" altLang="en-US" sz="1800" b="0" i="0" u="none" strike="noStrike" cap="none" normalizeH="0" baseline="0" dirty="0">
                <a:ln>
                  <a:noFill/>
                </a:ln>
                <a:solidFill>
                  <a:schemeClr val="tx1"/>
                </a:solidFill>
                <a:effectLst/>
                <a:latin typeface="Arial" panose="020B0604020202020204" pitchFamily="34" charset="0"/>
              </a:rPr>
              <a:t>, provides a powerful alternative by enabling systems to learn strategies through interaction and experience.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 Reinforcement Learning, an agent learns by trial and error, receiving rewards or penalties based on its actions rather than being explicitly programmed.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4" name="Google Shape;74;p3"/>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4</a:t>
            </a:fld>
            <a:endParaRPr/>
          </a:p>
        </p:txBody>
      </p:sp>
      <p:sp>
        <p:nvSpPr>
          <p:cNvPr id="75" name="Google Shape;75;p3"/>
          <p:cNvSpPr txBox="1">
            <a:spLocks noGrp="1"/>
          </p:cNvSpPr>
          <p:nvPr>
            <p:ph type="title"/>
          </p:nvPr>
        </p:nvSpPr>
        <p:spPr>
          <a:xfrm>
            <a:off x="311699" y="97133"/>
            <a:ext cx="8520602" cy="681811"/>
          </a:xfrm>
          <a:prstGeom prst="rect">
            <a:avLst/>
          </a:prstGeom>
          <a:noFill/>
          <a:ln>
            <a:noFill/>
          </a:ln>
        </p:spPr>
        <p:txBody>
          <a:bodyPr spcFirstLastPara="1" wrap="square" lIns="91400" tIns="91400" rIns="91400" bIns="91400" anchor="t" anchorCtr="0">
            <a:normAutofit fontScale="90000"/>
          </a:bodyPr>
          <a:lstStyle/>
          <a:p>
            <a:pPr marL="0" lvl="0" indent="0" algn="ctr" rtl="0">
              <a:lnSpc>
                <a:spcPct val="100000"/>
              </a:lnSpc>
              <a:spcBef>
                <a:spcPts val="0"/>
              </a:spcBef>
              <a:spcAft>
                <a:spcPts val="0"/>
              </a:spcAft>
              <a:buSzPct val="56258"/>
              <a:buNone/>
            </a:pPr>
            <a:r>
              <a:rPr lang="en-US" sz="3555">
                <a:latin typeface="Times New Roman"/>
                <a:ea typeface="Times New Roman"/>
                <a:cs typeface="Times New Roman"/>
                <a:sym typeface="Times New Roman"/>
              </a:rPr>
              <a:t>1. Introduction (contd…)</a:t>
            </a:r>
            <a:endParaRPr/>
          </a:p>
        </p:txBody>
      </p:sp>
      <p:sp>
        <p:nvSpPr>
          <p:cNvPr id="2" name="Text Placeholder 1">
            <a:extLst>
              <a:ext uri="{FF2B5EF4-FFF2-40B4-BE49-F238E27FC236}">
                <a16:creationId xmlns:a16="http://schemas.microsoft.com/office/drawing/2014/main" id="{3A529813-9231-89CA-F795-2D581AF08F9B}"/>
              </a:ext>
            </a:extLst>
          </p:cNvPr>
          <p:cNvSpPr>
            <a:spLocks noGrp="1" noChangeArrowheads="1"/>
          </p:cNvSpPr>
          <p:nvPr>
            <p:ph type="body" idx="1"/>
          </p:nvPr>
        </p:nvSpPr>
        <p:spPr bwMode="auto">
          <a:xfrm>
            <a:off x="556260" y="1196307"/>
            <a:ext cx="812808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project focuses on </a:t>
            </a:r>
            <a:r>
              <a:rPr kumimoji="0" lang="en-US" altLang="en-US" sz="1800" b="1" i="0" u="none" strike="noStrike" cap="none" normalizeH="0" baseline="0" dirty="0">
                <a:ln>
                  <a:noFill/>
                </a:ln>
                <a:solidFill>
                  <a:schemeClr val="tx1"/>
                </a:solidFill>
                <a:effectLst/>
                <a:latin typeface="Arial" panose="020B0604020202020204" pitchFamily="34" charset="0"/>
              </a:rPr>
              <a:t>Stochastic Chess Piece Movement using Deep Q-Network (DQN)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DQN</a:t>
            </a:r>
            <a:r>
              <a:rPr kumimoji="0" lang="en-US" altLang="en-US" sz="1800" b="0" i="0" u="none" strike="noStrike" cap="none" normalizeH="0" baseline="0" dirty="0">
                <a:ln>
                  <a:noFill/>
                </a:ln>
                <a:solidFill>
                  <a:schemeClr val="tx1"/>
                </a:solidFill>
                <a:effectLst/>
                <a:latin typeface="Arial" panose="020B0604020202020204" pitchFamily="34" charset="0"/>
              </a:rPr>
              <a:t> combines Q-learning with deep neural networks to handle large state and action spaces in chess.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AI agent learns optimal chess moves by interacting with the environment and improving through self-play.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goal is to develop an intelligent system capable of making effective chess decisions under uncertainty, demonstrating the potential of deep reinforcement learning in game AI.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8"/>
          <p:cNvSpPr txBox="1">
            <a:spLocks noGrp="1"/>
          </p:cNvSpPr>
          <p:nvPr>
            <p:ph type="title"/>
          </p:nvPr>
        </p:nvSpPr>
        <p:spPr>
          <a:xfrm>
            <a:off x="311699" y="173880"/>
            <a:ext cx="8520602" cy="737345"/>
          </a:xfrm>
          <a:prstGeom prst="rect">
            <a:avLst/>
          </a:prstGeom>
          <a:noFill/>
          <a:ln>
            <a:noFill/>
          </a:ln>
        </p:spPr>
        <p:txBody>
          <a:bodyPr spcFirstLastPara="1" wrap="square" lIns="91400" tIns="91400" rIns="91400" bIns="91400" anchor="t" anchorCtr="0">
            <a:normAutofit/>
          </a:bodyPr>
          <a:lstStyle/>
          <a:p>
            <a:pPr marL="0" lvl="0" indent="0" algn="ctr" rtl="0">
              <a:lnSpc>
                <a:spcPct val="100000"/>
              </a:lnSpc>
              <a:spcBef>
                <a:spcPts val="0"/>
              </a:spcBef>
              <a:spcAft>
                <a:spcPts val="0"/>
              </a:spcAft>
              <a:buSzPts val="1800"/>
              <a:buNone/>
            </a:pPr>
            <a:r>
              <a:rPr lang="en-US" sz="3200" dirty="0">
                <a:latin typeface="Times New Roman"/>
                <a:ea typeface="Times New Roman"/>
                <a:cs typeface="Times New Roman"/>
                <a:sym typeface="Times New Roman"/>
              </a:rPr>
              <a:t>2. Problem Statement</a:t>
            </a:r>
            <a:endParaRPr dirty="0"/>
          </a:p>
        </p:txBody>
      </p:sp>
      <p:sp>
        <p:nvSpPr>
          <p:cNvPr id="114" name="Google Shape;114;p8"/>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5</a:t>
            </a:fld>
            <a:endParaRPr/>
          </a:p>
        </p:txBody>
      </p:sp>
      <p:sp>
        <p:nvSpPr>
          <p:cNvPr id="2" name="Text Placeholder 1">
            <a:extLst>
              <a:ext uri="{FF2B5EF4-FFF2-40B4-BE49-F238E27FC236}">
                <a16:creationId xmlns:a16="http://schemas.microsoft.com/office/drawing/2014/main" id="{BED3B204-E0F1-BBAA-C314-C081C7369EFB}"/>
              </a:ext>
            </a:extLst>
          </p:cNvPr>
          <p:cNvSpPr>
            <a:spLocks noGrp="1" noChangeArrowheads="1"/>
          </p:cNvSpPr>
          <p:nvPr>
            <p:ph type="body" idx="1"/>
          </p:nvPr>
        </p:nvSpPr>
        <p:spPr bwMode="auto">
          <a:xfrm>
            <a:off x="609600" y="875516"/>
            <a:ext cx="801624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ClrTx/>
              <a:buSzTx/>
              <a:buFontTx/>
              <a:buChar char="•"/>
            </a:pPr>
            <a:r>
              <a:rPr lang="en-US" altLang="en-US" dirty="0">
                <a:solidFill>
                  <a:schemeClr val="tx1"/>
                </a:solidFill>
                <a:latin typeface="Arial" panose="020B0604020202020204" pitchFamily="34" charset="0"/>
              </a:rPr>
              <a:t>Traditional chess engines rely heavily on predefined rules and exhaustive search techniques, which become inefficient when dealing with large state and action spaces.</a:t>
            </a:r>
          </a:p>
          <a:p>
            <a:pPr marL="0" lvl="0" indent="0" algn="just" eaLnBrk="0" fontAlgn="base" hangingPunct="0">
              <a:lnSpc>
                <a:spcPct val="100000"/>
              </a:lnSpc>
              <a:spcBef>
                <a:spcPct val="0"/>
              </a:spcBef>
              <a:spcAft>
                <a:spcPct val="0"/>
              </a:spcAft>
              <a:buClrTx/>
              <a:buSzTx/>
              <a:buFontTx/>
              <a:buChar char="•"/>
            </a:pPr>
            <a:r>
              <a:rPr lang="en-US" altLang="en-US" dirty="0">
                <a:solidFill>
                  <a:schemeClr val="tx1"/>
                </a:solidFill>
                <a:latin typeface="Arial" panose="020B0604020202020204" pitchFamily="34" charset="0"/>
              </a:rPr>
              <a:t>Chess involves </a:t>
            </a:r>
            <a:r>
              <a:rPr lang="en-US" altLang="en-US" b="1" dirty="0">
                <a:solidFill>
                  <a:schemeClr val="tx1"/>
                </a:solidFill>
                <a:latin typeface="Arial" panose="020B0604020202020204" pitchFamily="34" charset="0"/>
              </a:rPr>
              <a:t>uncertainty and stochastic decision-making</a:t>
            </a:r>
            <a:r>
              <a:rPr lang="en-US" altLang="en-US" dirty="0">
                <a:solidFill>
                  <a:schemeClr val="tx1"/>
                </a:solidFill>
                <a:latin typeface="Arial" panose="020B0604020202020204" pitchFamily="34" charset="0"/>
              </a:rPr>
              <a:t>, where optimal moves depend on long-term outcomes rather than immediate rewards.</a:t>
            </a:r>
          </a:p>
          <a:p>
            <a:pPr marL="0" lvl="0" indent="0" algn="just" eaLnBrk="0" fontAlgn="base" hangingPunct="0">
              <a:lnSpc>
                <a:spcPct val="100000"/>
              </a:lnSpc>
              <a:spcBef>
                <a:spcPct val="0"/>
              </a:spcBef>
              <a:spcAft>
                <a:spcPct val="0"/>
              </a:spcAft>
              <a:buClrTx/>
              <a:buSzTx/>
              <a:buFontTx/>
              <a:buChar char="•"/>
            </a:pPr>
            <a:r>
              <a:rPr lang="en-US" altLang="en-US" dirty="0">
                <a:solidFill>
                  <a:schemeClr val="tx1"/>
                </a:solidFill>
                <a:latin typeface="Arial" panose="020B0604020202020204" pitchFamily="34" charset="0"/>
              </a:rPr>
              <a:t>Conventional Q-learning methods struggle to scale due to the enormous number of possible board states and legal moves.</a:t>
            </a:r>
          </a:p>
          <a:p>
            <a:pPr marL="0" lvl="0" indent="0" algn="just" eaLnBrk="0" fontAlgn="base" hangingPunct="0">
              <a:lnSpc>
                <a:spcPct val="100000"/>
              </a:lnSpc>
              <a:spcBef>
                <a:spcPct val="0"/>
              </a:spcBef>
              <a:spcAft>
                <a:spcPct val="0"/>
              </a:spcAft>
              <a:buClrTx/>
              <a:buSzTx/>
              <a:buFontTx/>
              <a:buChar char="•"/>
            </a:pPr>
            <a:r>
              <a:rPr lang="en-US" altLang="en-US" dirty="0">
                <a:solidFill>
                  <a:schemeClr val="tx1"/>
                </a:solidFill>
                <a:latin typeface="Arial" panose="020B0604020202020204" pitchFamily="34" charset="0"/>
              </a:rPr>
              <a:t>Therefore, there is a need for an intelligent approach that can </a:t>
            </a:r>
            <a:r>
              <a:rPr lang="en-US" altLang="en-US" b="1" dirty="0">
                <a:solidFill>
                  <a:schemeClr val="tx1"/>
                </a:solidFill>
                <a:latin typeface="Arial" panose="020B0604020202020204" pitchFamily="34" charset="0"/>
              </a:rPr>
              <a:t>learn optimal chess piece movements autonomously</a:t>
            </a:r>
            <a:r>
              <a:rPr lang="en-US" altLang="en-US" dirty="0">
                <a:solidFill>
                  <a:schemeClr val="tx1"/>
                </a:solidFill>
                <a:latin typeface="Arial" panose="020B0604020202020204" pitchFamily="34" charset="0"/>
              </a:rPr>
              <a:t>, handle stochastic environments, and efficiently manage high-dimensional state spaces.</a:t>
            </a:r>
          </a:p>
          <a:p>
            <a:pPr marL="0" lvl="0" indent="0" algn="just" eaLnBrk="0" fontAlgn="base" hangingPunct="0">
              <a:lnSpc>
                <a:spcPct val="100000"/>
              </a:lnSpc>
              <a:spcBef>
                <a:spcPct val="0"/>
              </a:spcBef>
              <a:spcAft>
                <a:spcPct val="0"/>
              </a:spcAft>
              <a:buClrTx/>
              <a:buSzTx/>
              <a:buFontTx/>
              <a:buChar char="•"/>
            </a:pPr>
            <a:r>
              <a:rPr lang="en-US" altLang="en-US" dirty="0">
                <a:solidFill>
                  <a:schemeClr val="tx1"/>
                </a:solidFill>
                <a:latin typeface="Arial" panose="020B0604020202020204" pitchFamily="34" charset="0"/>
              </a:rPr>
              <a:t>This project addresses the problem by applying </a:t>
            </a:r>
            <a:r>
              <a:rPr lang="en-US" altLang="en-US" b="1" dirty="0">
                <a:solidFill>
                  <a:schemeClr val="tx1"/>
                </a:solidFill>
                <a:latin typeface="Arial" panose="020B0604020202020204" pitchFamily="34" charset="0"/>
              </a:rPr>
              <a:t>Deep Q-Networks (DQN)</a:t>
            </a:r>
            <a:r>
              <a:rPr lang="en-US" altLang="en-US" dirty="0">
                <a:solidFill>
                  <a:schemeClr val="tx1"/>
                </a:solidFill>
                <a:latin typeface="Arial" panose="020B0604020202020204" pitchFamily="34" charset="0"/>
              </a:rPr>
              <a:t> to learn and optimize chess piece movements through reinforcement learning.</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9"/>
          <p:cNvSpPr txBox="1">
            <a:spLocks noGrp="1"/>
          </p:cNvSpPr>
          <p:nvPr>
            <p:ph type="title"/>
          </p:nvPr>
        </p:nvSpPr>
        <p:spPr>
          <a:xfrm>
            <a:off x="71856" y="153363"/>
            <a:ext cx="9072144" cy="682461"/>
          </a:xfrm>
          <a:prstGeom prst="rect">
            <a:avLst/>
          </a:prstGeom>
          <a:noFill/>
          <a:ln>
            <a:noFill/>
          </a:ln>
        </p:spPr>
        <p:txBody>
          <a:bodyPr spcFirstLastPara="1" wrap="square" lIns="91400" tIns="91400" rIns="91400" bIns="91400" anchor="t" anchorCtr="0">
            <a:noAutofit/>
          </a:bodyPr>
          <a:lstStyle/>
          <a:p>
            <a:pPr marL="0" lvl="0" indent="0" algn="ctr" rtl="0">
              <a:lnSpc>
                <a:spcPct val="100000"/>
              </a:lnSpc>
              <a:spcBef>
                <a:spcPts val="0"/>
              </a:spcBef>
              <a:spcAft>
                <a:spcPts val="0"/>
              </a:spcAft>
              <a:buClr>
                <a:srgbClr val="000000"/>
              </a:buClr>
              <a:buSzPts val="2500"/>
              <a:buFont typeface="Arial"/>
              <a:buNone/>
            </a:pPr>
            <a:r>
              <a:rPr lang="en-US" sz="3200">
                <a:latin typeface="Times New Roman"/>
                <a:ea typeface="Times New Roman"/>
                <a:cs typeface="Times New Roman"/>
                <a:sym typeface="Times New Roman"/>
              </a:rPr>
              <a:t>3. Objectives of the Project</a:t>
            </a:r>
            <a:br>
              <a:rPr lang="en-US" sz="3200" b="1">
                <a:latin typeface="Times New Roman"/>
                <a:ea typeface="Times New Roman"/>
                <a:cs typeface="Times New Roman"/>
                <a:sym typeface="Times New Roman"/>
              </a:rPr>
            </a:br>
            <a:endParaRPr/>
          </a:p>
        </p:txBody>
      </p:sp>
      <p:sp>
        <p:nvSpPr>
          <p:cNvPr id="121" name="Google Shape;121;p9"/>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6</a:t>
            </a:fld>
            <a:endParaRPr/>
          </a:p>
        </p:txBody>
      </p:sp>
      <p:sp>
        <p:nvSpPr>
          <p:cNvPr id="3" name="Text Placeholder 2">
            <a:extLst>
              <a:ext uri="{FF2B5EF4-FFF2-40B4-BE49-F238E27FC236}">
                <a16:creationId xmlns:a16="http://schemas.microsoft.com/office/drawing/2014/main" id="{14BB883B-FF01-7221-9257-96318D2B17A1}"/>
              </a:ext>
            </a:extLst>
          </p:cNvPr>
          <p:cNvSpPr>
            <a:spLocks noGrp="1"/>
          </p:cNvSpPr>
          <p:nvPr>
            <p:ph type="body" idx="1"/>
          </p:nvPr>
        </p:nvSpPr>
        <p:spPr/>
        <p:txBody>
          <a:bodyPr/>
          <a:lstStyle/>
          <a:p>
            <a:r>
              <a:rPr lang="en-US" dirty="0"/>
              <a:t>To design and implement a </a:t>
            </a:r>
            <a:r>
              <a:rPr lang="en-US" b="1" dirty="0"/>
              <a:t>reinforcement learning–based chess agent</a:t>
            </a:r>
            <a:r>
              <a:rPr lang="en-US" dirty="0"/>
              <a:t> capable of learning optimal piece movements.</a:t>
            </a:r>
          </a:p>
          <a:p>
            <a:r>
              <a:rPr lang="en-US" dirty="0"/>
              <a:t>To apply </a:t>
            </a:r>
            <a:r>
              <a:rPr lang="en-US" b="1" dirty="0"/>
              <a:t>Deep Q-Network (DQN)</a:t>
            </a:r>
            <a:r>
              <a:rPr lang="en-US" dirty="0"/>
              <a:t> for handling the large and complex state–action space of chess.</a:t>
            </a:r>
          </a:p>
          <a:p>
            <a:r>
              <a:rPr lang="en-US" dirty="0"/>
              <a:t>To enable the agent to learn through </a:t>
            </a:r>
            <a:r>
              <a:rPr lang="en-US" b="1" dirty="0"/>
              <a:t>self-play and interaction</a:t>
            </a:r>
            <a:r>
              <a:rPr lang="en-US" dirty="0"/>
              <a:t> with the chess environment.</a:t>
            </a:r>
          </a:p>
          <a:p>
            <a:r>
              <a:rPr lang="en-US" dirty="0"/>
              <a:t>To balance </a:t>
            </a:r>
            <a:r>
              <a:rPr lang="en-US" b="1" dirty="0"/>
              <a:t>exploration and exploitation</a:t>
            </a:r>
            <a:r>
              <a:rPr lang="en-US" dirty="0"/>
              <a:t> for effective decision-making under uncertainty.</a:t>
            </a:r>
          </a:p>
          <a:p>
            <a:r>
              <a:rPr lang="en-US" dirty="0"/>
              <a:t>To evaluate the effectiveness of DQN in improving chess move selection and overall gameplay performance.</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0"/>
          <p:cNvSpPr txBox="1"/>
          <p:nvPr/>
        </p:nvSpPr>
        <p:spPr>
          <a:xfrm>
            <a:off x="988700" y="152400"/>
            <a:ext cx="7374772" cy="584771"/>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None/>
            </a:pPr>
            <a:r>
              <a:rPr lang="en-US" sz="3200" b="0" i="0" u="none" strike="noStrike" cap="none">
                <a:solidFill>
                  <a:srgbClr val="000000"/>
                </a:solidFill>
                <a:latin typeface="Times New Roman"/>
                <a:ea typeface="Times New Roman"/>
                <a:cs typeface="Times New Roman"/>
                <a:sym typeface="Times New Roman"/>
              </a:rPr>
              <a:t>4. Literature Survey (Existing Approaches)c</a:t>
            </a:r>
            <a:endParaRPr sz="3200" b="0" i="0" u="none" strike="noStrike" cap="none">
              <a:solidFill>
                <a:srgbClr val="000000"/>
              </a:solidFill>
              <a:latin typeface="Times New Roman"/>
              <a:ea typeface="Times New Roman"/>
              <a:cs typeface="Times New Roman"/>
              <a:sym typeface="Times New Roman"/>
            </a:endParaRPr>
          </a:p>
        </p:txBody>
      </p:sp>
      <p:graphicFrame>
        <p:nvGraphicFramePr>
          <p:cNvPr id="127" name="Google Shape;127;p10"/>
          <p:cNvGraphicFramePr/>
          <p:nvPr>
            <p:extLst>
              <p:ext uri="{D42A27DB-BD31-4B8C-83A1-F6EECF244321}">
                <p14:modId xmlns:p14="http://schemas.microsoft.com/office/powerpoint/2010/main" val="331915627"/>
              </p:ext>
            </p:extLst>
          </p:nvPr>
        </p:nvGraphicFramePr>
        <p:xfrm>
          <a:off x="170985" y="737171"/>
          <a:ext cx="8811090" cy="4005111"/>
        </p:xfrm>
        <a:graphic>
          <a:graphicData uri="http://schemas.openxmlformats.org/drawingml/2006/table">
            <a:tbl>
              <a:tblPr>
                <a:noFill/>
                <a:tableStyleId>{F90BD25F-960E-4EDE-841B-6BAD378992E6}</a:tableStyleId>
              </a:tblPr>
              <a:tblGrid>
                <a:gridCol w="1171865">
                  <a:extLst>
                    <a:ext uri="{9D8B030D-6E8A-4147-A177-3AD203B41FA5}">
                      <a16:colId xmlns:a16="http://schemas.microsoft.com/office/drawing/2014/main" val="20000"/>
                    </a:ext>
                  </a:extLst>
                </a:gridCol>
                <a:gridCol w="2657050">
                  <a:extLst>
                    <a:ext uri="{9D8B030D-6E8A-4147-A177-3AD203B41FA5}">
                      <a16:colId xmlns:a16="http://schemas.microsoft.com/office/drawing/2014/main" val="20001"/>
                    </a:ext>
                  </a:extLst>
                </a:gridCol>
                <a:gridCol w="2624550">
                  <a:extLst>
                    <a:ext uri="{9D8B030D-6E8A-4147-A177-3AD203B41FA5}">
                      <a16:colId xmlns:a16="http://schemas.microsoft.com/office/drawing/2014/main" val="20002"/>
                    </a:ext>
                  </a:extLst>
                </a:gridCol>
                <a:gridCol w="2357625">
                  <a:extLst>
                    <a:ext uri="{9D8B030D-6E8A-4147-A177-3AD203B41FA5}">
                      <a16:colId xmlns:a16="http://schemas.microsoft.com/office/drawing/2014/main" val="20003"/>
                    </a:ext>
                  </a:extLst>
                </a:gridCol>
              </a:tblGrid>
              <a:tr h="429279">
                <a:tc>
                  <a:txBody>
                    <a:bodyPr/>
                    <a:lstStyle/>
                    <a:p>
                      <a:pPr marL="0" marR="0" lvl="0" indent="0" algn="just" rtl="0">
                        <a:lnSpc>
                          <a:spcPct val="100000"/>
                        </a:lnSpc>
                        <a:spcBef>
                          <a:spcPts val="0"/>
                        </a:spcBef>
                        <a:spcAft>
                          <a:spcPts val="0"/>
                        </a:spcAft>
                        <a:buNone/>
                      </a:pPr>
                      <a:r>
                        <a:rPr lang="en-US" sz="1400" b="1" u="none" strike="noStrike" cap="none">
                          <a:solidFill>
                            <a:srgbClr val="FFFFFF"/>
                          </a:solidFill>
                          <a:latin typeface="Times New Roman"/>
                          <a:ea typeface="Times New Roman"/>
                          <a:cs typeface="Times New Roman"/>
                          <a:sym typeface="Times New Roman"/>
                        </a:rPr>
                        <a:t>Reference Number</a:t>
                      </a:r>
                      <a:endParaRPr/>
                    </a:p>
                  </a:txBody>
                  <a:tcPr marL="45725" marR="45725" marT="45725" marB="45725">
                    <a:solidFill>
                      <a:schemeClr val="accent3"/>
                    </a:solidFill>
                  </a:tcPr>
                </a:tc>
                <a:tc>
                  <a:txBody>
                    <a:bodyPr/>
                    <a:lstStyle/>
                    <a:p>
                      <a:pPr marL="0" marR="0" lvl="0" indent="0" algn="just" rtl="0">
                        <a:lnSpc>
                          <a:spcPct val="100000"/>
                        </a:lnSpc>
                        <a:spcBef>
                          <a:spcPts val="0"/>
                        </a:spcBef>
                        <a:spcAft>
                          <a:spcPts val="0"/>
                        </a:spcAft>
                        <a:buNone/>
                      </a:pPr>
                      <a:r>
                        <a:rPr lang="en-US" sz="1400" b="1" u="none" strike="noStrike" cap="none" dirty="0">
                          <a:solidFill>
                            <a:srgbClr val="FFFFFF"/>
                          </a:solidFill>
                          <a:latin typeface="Times New Roman"/>
                          <a:ea typeface="Times New Roman"/>
                          <a:cs typeface="Times New Roman"/>
                          <a:sym typeface="Times New Roman"/>
                        </a:rPr>
                        <a:t>Title</a:t>
                      </a:r>
                      <a:endParaRPr dirty="0"/>
                    </a:p>
                  </a:txBody>
                  <a:tcPr marL="45725" marR="45725" marT="45725" marB="45725">
                    <a:solidFill>
                      <a:schemeClr val="accent3"/>
                    </a:solidFill>
                  </a:tcPr>
                </a:tc>
                <a:tc>
                  <a:txBody>
                    <a:bodyPr/>
                    <a:lstStyle/>
                    <a:p>
                      <a:pPr marL="0" marR="0" lvl="0" indent="0" algn="just" rtl="0">
                        <a:lnSpc>
                          <a:spcPct val="100000"/>
                        </a:lnSpc>
                        <a:spcBef>
                          <a:spcPts val="0"/>
                        </a:spcBef>
                        <a:spcAft>
                          <a:spcPts val="0"/>
                        </a:spcAft>
                        <a:buNone/>
                      </a:pPr>
                      <a:r>
                        <a:rPr lang="en-US" sz="1400" b="1" u="none" strike="noStrike" cap="none">
                          <a:solidFill>
                            <a:srgbClr val="FFFFFF"/>
                          </a:solidFill>
                          <a:latin typeface="Times New Roman"/>
                          <a:ea typeface="Times New Roman"/>
                          <a:cs typeface="Times New Roman"/>
                          <a:sym typeface="Times New Roman"/>
                        </a:rPr>
                        <a:t>Methodology</a:t>
                      </a:r>
                      <a:endParaRPr/>
                    </a:p>
                  </a:txBody>
                  <a:tcPr marL="45725" marR="45725" marT="45725" marB="45725">
                    <a:solidFill>
                      <a:schemeClr val="accent3"/>
                    </a:solidFill>
                  </a:tcPr>
                </a:tc>
                <a:tc>
                  <a:txBody>
                    <a:bodyPr/>
                    <a:lstStyle/>
                    <a:p>
                      <a:pPr marL="0" marR="0" lvl="0" indent="0" algn="just" rtl="0">
                        <a:lnSpc>
                          <a:spcPct val="100000"/>
                        </a:lnSpc>
                        <a:spcBef>
                          <a:spcPts val="0"/>
                        </a:spcBef>
                        <a:spcAft>
                          <a:spcPts val="0"/>
                        </a:spcAft>
                        <a:buNone/>
                      </a:pPr>
                      <a:r>
                        <a:rPr lang="en-US" sz="1400" b="1" u="none" strike="noStrike" cap="none">
                          <a:solidFill>
                            <a:srgbClr val="FFFFFF"/>
                          </a:solidFill>
                          <a:latin typeface="Times New Roman"/>
                          <a:ea typeface="Times New Roman"/>
                          <a:cs typeface="Times New Roman"/>
                          <a:sym typeface="Times New Roman"/>
                        </a:rPr>
                        <a:t>Results/Remarks</a:t>
                      </a:r>
                      <a:endParaRPr/>
                    </a:p>
                  </a:txBody>
                  <a:tcPr marL="45725" marR="45725" marT="45725" marB="45725">
                    <a:solidFill>
                      <a:schemeClr val="accent3"/>
                    </a:solidFill>
                  </a:tcPr>
                </a:tc>
                <a:extLst>
                  <a:ext uri="{0D108BD9-81ED-4DB2-BD59-A6C34878D82A}">
                    <a16:rowId xmlns:a16="http://schemas.microsoft.com/office/drawing/2014/main" val="10000"/>
                  </a:ext>
                </a:extLst>
              </a:tr>
              <a:tr h="1753127">
                <a:tc>
                  <a:txBody>
                    <a:bodyPr/>
                    <a:lstStyle/>
                    <a:p>
                      <a:pPr marL="0" marR="0" lvl="0" indent="0" algn="just" rtl="0">
                        <a:lnSpc>
                          <a:spcPct val="100000"/>
                        </a:lnSpc>
                        <a:spcBef>
                          <a:spcPts val="0"/>
                        </a:spcBef>
                        <a:spcAft>
                          <a:spcPts val="0"/>
                        </a:spcAft>
                        <a:buNone/>
                      </a:pPr>
                      <a:r>
                        <a:rPr lang="en-IN" dirty="0"/>
                        <a:t>[1]</a:t>
                      </a:r>
                      <a:endParaRPr dirty="0"/>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dirty="0"/>
                        <a:t>Superior Computer Chess with Model Predictive Control, Reinforcement Learning, and Rollout</a:t>
                      </a:r>
                      <a:endParaRPr sz="1400" u="none" strike="noStrike" cap="none" dirty="0">
                        <a:solidFill>
                          <a:srgbClr val="0D0D0D"/>
                        </a:solidFill>
                        <a:latin typeface="Times New Roman"/>
                        <a:ea typeface="Times New Roman"/>
                        <a:cs typeface="Times New Roman"/>
                        <a:sym typeface="Times New Roman"/>
                      </a:endParaRPr>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sz="1300" dirty="0"/>
                        <a:t>Combines model predictive control (MPC), reinforcement learning (RL), and rollout planning with existing chess engines to create a meta-algorithm that uses position evaluation and opponent prediction to select moves</a:t>
                      </a:r>
                      <a:endParaRPr sz="1300" dirty="0"/>
                    </a:p>
                  </a:txBody>
                  <a:tcPr marL="45725" marR="45725" marT="45725" marB="45725">
                    <a:solidFill>
                      <a:srgbClr val="D5DBDE"/>
                    </a:solidFill>
                  </a:tcPr>
                </a:tc>
                <a:tc>
                  <a:txBody>
                    <a:bodyPr/>
                    <a:lstStyle/>
                    <a:p>
                      <a:pPr marL="0" marR="0" lvl="0" indent="0" algn="just" rtl="0">
                        <a:lnSpc>
                          <a:spcPct val="120000"/>
                        </a:lnSpc>
                        <a:spcBef>
                          <a:spcPts val="0"/>
                        </a:spcBef>
                        <a:spcAft>
                          <a:spcPts val="0"/>
                        </a:spcAft>
                        <a:buClr>
                          <a:srgbClr val="000000"/>
                        </a:buClr>
                        <a:buSzPts val="1400"/>
                        <a:buFont typeface="Arial"/>
                        <a:buNone/>
                      </a:pPr>
                      <a:r>
                        <a:rPr lang="en-US" sz="1300" dirty="0"/>
                        <a:t>Shows that RL-based planning improves decision-making in complex chess environments, supporting the use of DQN for evaluating stochastic chess piece movements.</a:t>
                      </a:r>
                      <a:endParaRPr sz="1300" u="none" strike="noStrike" cap="none" dirty="0"/>
                    </a:p>
                  </a:txBody>
                  <a:tcPr marL="45725" marR="45725" marT="45725" marB="45725">
                    <a:solidFill>
                      <a:srgbClr val="D5DBDE"/>
                    </a:solidFill>
                  </a:tcPr>
                </a:tc>
                <a:extLst>
                  <a:ext uri="{0D108BD9-81ED-4DB2-BD59-A6C34878D82A}">
                    <a16:rowId xmlns:a16="http://schemas.microsoft.com/office/drawing/2014/main" val="10001"/>
                  </a:ext>
                </a:extLst>
              </a:tr>
              <a:tr h="1117906">
                <a:tc>
                  <a:txBody>
                    <a:bodyPr/>
                    <a:lstStyle/>
                    <a:p>
                      <a:pPr marL="0" marR="0" lvl="0" indent="0" algn="just" rtl="0">
                        <a:lnSpc>
                          <a:spcPct val="100000"/>
                        </a:lnSpc>
                        <a:spcBef>
                          <a:spcPts val="0"/>
                        </a:spcBef>
                        <a:spcAft>
                          <a:spcPts val="0"/>
                        </a:spcAft>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dirty="0"/>
                        <a:t>Model Predictive Control and Reinforcement Learning: A Unified Framework Based on Dynamic Programming</a:t>
                      </a:r>
                      <a:endParaRPr sz="1400" u="none" strike="noStrike" cap="none" dirty="0">
                        <a:solidFill>
                          <a:srgbClr val="0D0D0D"/>
                        </a:solidFill>
                        <a:latin typeface="Times New Roman"/>
                        <a:ea typeface="Times New Roman"/>
                        <a:cs typeface="Times New Roman"/>
                        <a:sym typeface="Times New Roman"/>
                      </a:endParaRPr>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sz="1300" dirty="0"/>
                        <a:t>Presents a unified framework combining dynamic programming, model predictive control, and reinforcement learning for sequential decision-making problems.</a:t>
                      </a:r>
                      <a:endParaRPr sz="1300" dirty="0"/>
                    </a:p>
                  </a:txBody>
                  <a:tcPr marL="45725" marR="45725" marT="45725" marB="45725">
                    <a:solidFill>
                      <a:srgbClr val="D5DBDE"/>
                    </a:solidFill>
                  </a:tcPr>
                </a:tc>
                <a:tc>
                  <a:txBody>
                    <a:bodyPr/>
                    <a:lstStyle/>
                    <a:p>
                      <a:pPr marL="0" marR="0" lvl="0" indent="0" algn="just" rtl="0">
                        <a:lnSpc>
                          <a:spcPct val="120000"/>
                        </a:lnSpc>
                        <a:spcBef>
                          <a:spcPts val="0"/>
                        </a:spcBef>
                        <a:spcAft>
                          <a:spcPts val="0"/>
                        </a:spcAft>
                        <a:buClr>
                          <a:srgbClr val="000000"/>
                        </a:buClr>
                        <a:buSzPts val="1400"/>
                        <a:buFont typeface="Arial"/>
                        <a:buNone/>
                      </a:pPr>
                      <a:r>
                        <a:rPr lang="en-US" sz="1300" dirty="0"/>
                        <a:t>Provides theoretical justification for using Q-value approximation (DQN) in environments with uncertainty and stochastic transitions, such as stochastic chess piece movement.</a:t>
                      </a:r>
                      <a:endParaRPr sz="1300" dirty="0"/>
                    </a:p>
                  </a:txBody>
                  <a:tcPr marL="45725" marR="45725" marT="45725" marB="45725">
                    <a:solidFill>
                      <a:srgbClr val="D5DBDE"/>
                    </a:solidFill>
                  </a:tcPr>
                </a:tc>
                <a:extLst>
                  <a:ext uri="{0D108BD9-81ED-4DB2-BD59-A6C34878D82A}">
                    <a16:rowId xmlns:a16="http://schemas.microsoft.com/office/drawing/2014/main" val="10002"/>
                  </a:ext>
                </a:extLst>
              </a:tr>
            </a:tbl>
          </a:graphicData>
        </a:graphic>
      </p:graphicFrame>
      <p:sp>
        <p:nvSpPr>
          <p:cNvPr id="128" name="Google Shape;128;p10"/>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graphicFrame>
        <p:nvGraphicFramePr>
          <p:cNvPr id="133" name="Google Shape;133;p11"/>
          <p:cNvGraphicFramePr/>
          <p:nvPr>
            <p:extLst>
              <p:ext uri="{D42A27DB-BD31-4B8C-83A1-F6EECF244321}">
                <p14:modId xmlns:p14="http://schemas.microsoft.com/office/powerpoint/2010/main" val="2972158218"/>
              </p:ext>
            </p:extLst>
          </p:nvPr>
        </p:nvGraphicFramePr>
        <p:xfrm>
          <a:off x="174457" y="1008570"/>
          <a:ext cx="8807625" cy="3522380"/>
        </p:xfrm>
        <a:graphic>
          <a:graphicData uri="http://schemas.openxmlformats.org/drawingml/2006/table">
            <a:tbl>
              <a:tblPr>
                <a:noFill/>
                <a:tableStyleId>{F90BD25F-960E-4EDE-841B-6BAD378992E6}</a:tableStyleId>
              </a:tblPr>
              <a:tblGrid>
                <a:gridCol w="1179250">
                  <a:extLst>
                    <a:ext uri="{9D8B030D-6E8A-4147-A177-3AD203B41FA5}">
                      <a16:colId xmlns:a16="http://schemas.microsoft.com/office/drawing/2014/main" val="20000"/>
                    </a:ext>
                  </a:extLst>
                </a:gridCol>
                <a:gridCol w="2653275">
                  <a:extLst>
                    <a:ext uri="{9D8B030D-6E8A-4147-A177-3AD203B41FA5}">
                      <a16:colId xmlns:a16="http://schemas.microsoft.com/office/drawing/2014/main" val="20001"/>
                    </a:ext>
                  </a:extLst>
                </a:gridCol>
                <a:gridCol w="2620825">
                  <a:extLst>
                    <a:ext uri="{9D8B030D-6E8A-4147-A177-3AD203B41FA5}">
                      <a16:colId xmlns:a16="http://schemas.microsoft.com/office/drawing/2014/main" val="20002"/>
                    </a:ext>
                  </a:extLst>
                </a:gridCol>
                <a:gridCol w="2354275">
                  <a:extLst>
                    <a:ext uri="{9D8B030D-6E8A-4147-A177-3AD203B41FA5}">
                      <a16:colId xmlns:a16="http://schemas.microsoft.com/office/drawing/2014/main" val="20003"/>
                    </a:ext>
                  </a:extLst>
                </a:gridCol>
              </a:tblGrid>
              <a:tr h="565800">
                <a:tc>
                  <a:txBody>
                    <a:bodyPr/>
                    <a:lstStyle/>
                    <a:p>
                      <a:pPr marL="0" marR="0" lvl="0" indent="0" algn="just" rtl="0">
                        <a:lnSpc>
                          <a:spcPct val="100000"/>
                        </a:lnSpc>
                        <a:spcBef>
                          <a:spcPts val="0"/>
                        </a:spcBef>
                        <a:spcAft>
                          <a:spcPts val="0"/>
                        </a:spcAft>
                        <a:buNone/>
                      </a:pPr>
                      <a:r>
                        <a:rPr lang="en-US" sz="1400" b="1" u="none" strike="noStrike" cap="none">
                          <a:solidFill>
                            <a:srgbClr val="FFFFFF"/>
                          </a:solidFill>
                          <a:latin typeface="Times New Roman"/>
                          <a:ea typeface="Times New Roman"/>
                          <a:cs typeface="Times New Roman"/>
                          <a:sym typeface="Times New Roman"/>
                        </a:rPr>
                        <a:t>Reference Number</a:t>
                      </a:r>
                      <a:endParaRPr/>
                    </a:p>
                  </a:txBody>
                  <a:tcPr marL="45725" marR="45725" marT="45725" marB="45725">
                    <a:solidFill>
                      <a:schemeClr val="accent3"/>
                    </a:solidFill>
                  </a:tcPr>
                </a:tc>
                <a:tc>
                  <a:txBody>
                    <a:bodyPr/>
                    <a:lstStyle/>
                    <a:p>
                      <a:pPr marL="0" marR="0" lvl="0" indent="0" algn="just" rtl="0">
                        <a:lnSpc>
                          <a:spcPct val="100000"/>
                        </a:lnSpc>
                        <a:spcBef>
                          <a:spcPts val="0"/>
                        </a:spcBef>
                        <a:spcAft>
                          <a:spcPts val="0"/>
                        </a:spcAft>
                        <a:buNone/>
                      </a:pPr>
                      <a:r>
                        <a:rPr lang="en-US" sz="1400" b="1" u="none" strike="noStrike" cap="none">
                          <a:solidFill>
                            <a:srgbClr val="FFFFFF"/>
                          </a:solidFill>
                          <a:latin typeface="Times New Roman"/>
                          <a:ea typeface="Times New Roman"/>
                          <a:cs typeface="Times New Roman"/>
                          <a:sym typeface="Times New Roman"/>
                        </a:rPr>
                        <a:t>Title</a:t>
                      </a:r>
                      <a:endParaRPr/>
                    </a:p>
                  </a:txBody>
                  <a:tcPr marL="45725" marR="45725" marT="45725" marB="45725">
                    <a:solidFill>
                      <a:schemeClr val="accent3"/>
                    </a:solidFill>
                  </a:tcPr>
                </a:tc>
                <a:tc>
                  <a:txBody>
                    <a:bodyPr/>
                    <a:lstStyle/>
                    <a:p>
                      <a:pPr marL="0" marR="0" lvl="0" indent="0" algn="just" rtl="0">
                        <a:lnSpc>
                          <a:spcPct val="100000"/>
                        </a:lnSpc>
                        <a:spcBef>
                          <a:spcPts val="0"/>
                        </a:spcBef>
                        <a:spcAft>
                          <a:spcPts val="0"/>
                        </a:spcAft>
                        <a:buNone/>
                      </a:pPr>
                      <a:r>
                        <a:rPr lang="en-US" sz="1400" b="1" u="none" strike="noStrike" cap="none">
                          <a:solidFill>
                            <a:srgbClr val="FFFFFF"/>
                          </a:solidFill>
                          <a:latin typeface="Times New Roman"/>
                          <a:ea typeface="Times New Roman"/>
                          <a:cs typeface="Times New Roman"/>
                          <a:sym typeface="Times New Roman"/>
                        </a:rPr>
                        <a:t>Methodology</a:t>
                      </a:r>
                      <a:endParaRPr/>
                    </a:p>
                  </a:txBody>
                  <a:tcPr marL="45725" marR="45725" marT="45725" marB="45725">
                    <a:solidFill>
                      <a:schemeClr val="accent3"/>
                    </a:solidFill>
                  </a:tcPr>
                </a:tc>
                <a:tc>
                  <a:txBody>
                    <a:bodyPr/>
                    <a:lstStyle/>
                    <a:p>
                      <a:pPr marL="0" marR="0" lvl="0" indent="0" algn="just" rtl="0">
                        <a:lnSpc>
                          <a:spcPct val="100000"/>
                        </a:lnSpc>
                        <a:spcBef>
                          <a:spcPts val="0"/>
                        </a:spcBef>
                        <a:spcAft>
                          <a:spcPts val="0"/>
                        </a:spcAft>
                        <a:buNone/>
                      </a:pPr>
                      <a:r>
                        <a:rPr lang="en-US" sz="1400" b="1" u="none" strike="noStrike" cap="none">
                          <a:solidFill>
                            <a:srgbClr val="FFFFFF"/>
                          </a:solidFill>
                          <a:latin typeface="Times New Roman"/>
                          <a:ea typeface="Times New Roman"/>
                          <a:cs typeface="Times New Roman"/>
                          <a:sym typeface="Times New Roman"/>
                        </a:rPr>
                        <a:t>Results/Remarks</a:t>
                      </a:r>
                      <a:endParaRPr/>
                    </a:p>
                  </a:txBody>
                  <a:tcPr marL="45725" marR="45725" marT="45725" marB="45725">
                    <a:solidFill>
                      <a:schemeClr val="accent3"/>
                    </a:solidFill>
                  </a:tcPr>
                </a:tc>
                <a:extLst>
                  <a:ext uri="{0D108BD9-81ED-4DB2-BD59-A6C34878D82A}">
                    <a16:rowId xmlns:a16="http://schemas.microsoft.com/office/drawing/2014/main" val="10000"/>
                  </a:ext>
                </a:extLst>
              </a:tr>
              <a:tr h="1468725">
                <a:tc>
                  <a:txBody>
                    <a:bodyPr/>
                    <a:lstStyle/>
                    <a:p>
                      <a:pPr marL="0" marR="0" lvl="0" indent="0" algn="just" rtl="0">
                        <a:lnSpc>
                          <a:spcPct val="100000"/>
                        </a:lnSpc>
                        <a:spcBef>
                          <a:spcPts val="0"/>
                        </a:spcBef>
                        <a:spcAft>
                          <a:spcPts val="0"/>
                        </a:spcAft>
                        <a:buNone/>
                      </a:pPr>
                      <a:r>
                        <a:rPr lang="en-US" sz="1400" u="none" strike="noStrike" cap="none">
                          <a:latin typeface="Times New Roman"/>
                          <a:ea typeface="Times New Roman"/>
                          <a:cs typeface="Times New Roman"/>
                          <a:sym typeface="Times New Roman"/>
                        </a:rPr>
                        <a:t>[3]</a:t>
                      </a:r>
                      <a:endParaRPr/>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dirty="0"/>
                        <a:t>Mastering Chess and Shogi by Self-Play with a General Reinforcement Learning Algorithm </a:t>
                      </a:r>
                      <a:endParaRPr sz="1400" u="none" strike="noStrike" cap="none" dirty="0">
                        <a:solidFill>
                          <a:srgbClr val="0D0D0D"/>
                        </a:solidFill>
                        <a:latin typeface="Times New Roman"/>
                        <a:ea typeface="Times New Roman"/>
                        <a:cs typeface="Times New Roman"/>
                        <a:sym typeface="Times New Roman"/>
                      </a:endParaRPr>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sz="1300" dirty="0"/>
                        <a:t>Uses deep neural networks trained via self-play reinforcement learning combined with Monte Carlo Tree Search for move selection</a:t>
                      </a:r>
                      <a:endParaRPr sz="1300" u="none" strike="noStrike" cap="none" dirty="0">
                        <a:latin typeface="Times New Roman"/>
                        <a:ea typeface="Times New Roman"/>
                        <a:cs typeface="Times New Roman"/>
                        <a:sym typeface="Times New Roman"/>
                      </a:endParaRPr>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sz="1300" dirty="0"/>
                        <a:t>Demonstrates that self-play reinforcement learning can learn strong chess strategies, validating the training approach adopted for stochastic chess piece movement.</a:t>
                      </a:r>
                      <a:endParaRPr sz="1300" u="none" strike="noStrike" cap="none" dirty="0">
                        <a:latin typeface="Times New Roman"/>
                        <a:ea typeface="Times New Roman"/>
                        <a:cs typeface="Times New Roman"/>
                        <a:sym typeface="Times New Roman"/>
                      </a:endParaRPr>
                    </a:p>
                  </a:txBody>
                  <a:tcPr marL="45725" marR="45725" marT="45725" marB="45725">
                    <a:solidFill>
                      <a:srgbClr val="D5DBDE"/>
                    </a:solidFill>
                  </a:tcPr>
                </a:tc>
                <a:extLst>
                  <a:ext uri="{0D108BD9-81ED-4DB2-BD59-A6C34878D82A}">
                    <a16:rowId xmlns:a16="http://schemas.microsoft.com/office/drawing/2014/main" val="10001"/>
                  </a:ext>
                </a:extLst>
              </a:tr>
              <a:tr h="1468725">
                <a:tc>
                  <a:txBody>
                    <a:bodyPr/>
                    <a:lstStyle/>
                    <a:p>
                      <a:pPr marL="0" marR="0" lvl="0" indent="0" algn="just" rtl="0">
                        <a:lnSpc>
                          <a:spcPct val="100000"/>
                        </a:lnSpc>
                        <a:spcBef>
                          <a:spcPts val="0"/>
                        </a:spcBef>
                        <a:spcAft>
                          <a:spcPts val="0"/>
                        </a:spcAft>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45725" marR="45725" marT="45725" marB="45725">
                    <a:solidFill>
                      <a:srgbClr val="D5DBDE"/>
                    </a:solidFill>
                  </a:tcPr>
                </a:tc>
                <a:tc>
                  <a:txBody>
                    <a:bodyPr/>
                    <a:lstStyle/>
                    <a:p>
                      <a:pPr marL="0" marR="0" lvl="0" indent="0" algn="l" rtl="0">
                        <a:lnSpc>
                          <a:spcPct val="100000"/>
                        </a:lnSpc>
                        <a:spcBef>
                          <a:spcPts val="0"/>
                        </a:spcBef>
                        <a:spcAft>
                          <a:spcPts val="0"/>
                        </a:spcAft>
                        <a:buNone/>
                      </a:pPr>
                      <a:r>
                        <a:rPr lang="en-US" dirty="0"/>
                        <a:t>Rainbow: Combining Improvements in Deep Reinforcement Learning</a:t>
                      </a:r>
                      <a:endParaRPr dirty="0"/>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sz="1300" dirty="0"/>
                        <a:t>Combines multiple DQN enhancements including Double DQN, prioritized experience replay, dueling networks, and noisy exploration.</a:t>
                      </a:r>
                      <a:endParaRPr sz="1300" u="none" strike="noStrike" cap="none" dirty="0">
                        <a:latin typeface="Times New Roman"/>
                        <a:ea typeface="Times New Roman"/>
                        <a:cs typeface="Times New Roman"/>
                        <a:sym typeface="Times New Roman"/>
                      </a:endParaRPr>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sz="1300" dirty="0"/>
                        <a:t>Shows improved stability and performance of DQN in complex and stochastic environments, motivating the use of enhanced DQN techniques in the proposed project.</a:t>
                      </a:r>
                      <a:endParaRPr sz="1300" dirty="0"/>
                    </a:p>
                  </a:txBody>
                  <a:tcPr marL="45725" marR="45725" marT="45725" marB="45725">
                    <a:solidFill>
                      <a:srgbClr val="D5DBDE"/>
                    </a:solidFill>
                  </a:tcPr>
                </a:tc>
                <a:extLst>
                  <a:ext uri="{0D108BD9-81ED-4DB2-BD59-A6C34878D82A}">
                    <a16:rowId xmlns:a16="http://schemas.microsoft.com/office/drawing/2014/main" val="10002"/>
                  </a:ext>
                </a:extLst>
              </a:tr>
            </a:tbl>
          </a:graphicData>
        </a:graphic>
      </p:graphicFrame>
      <p:sp>
        <p:nvSpPr>
          <p:cNvPr id="134" name="Google Shape;134;p11"/>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8</a:t>
            </a:fld>
            <a:endParaRPr/>
          </a:p>
        </p:txBody>
      </p:sp>
      <p:sp>
        <p:nvSpPr>
          <p:cNvPr id="135" name="Google Shape;135;p11"/>
          <p:cNvSpPr txBox="1"/>
          <p:nvPr/>
        </p:nvSpPr>
        <p:spPr>
          <a:xfrm>
            <a:off x="367539" y="152400"/>
            <a:ext cx="8617099" cy="584771"/>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None/>
            </a:pPr>
            <a:r>
              <a:rPr lang="en-US" sz="3200" b="0" i="0" u="none" strike="noStrike" cap="none">
                <a:solidFill>
                  <a:srgbClr val="000000"/>
                </a:solidFill>
                <a:latin typeface="Times New Roman"/>
                <a:ea typeface="Times New Roman"/>
                <a:cs typeface="Times New Roman"/>
                <a:sym typeface="Times New Roman"/>
              </a:rPr>
              <a:t>4. Literature Survey (Existing Approaches) contd…</a:t>
            </a:r>
            <a:endParaRPr sz="32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4"/>
          <p:cNvSpPr txBox="1">
            <a:spLocks noGrp="1"/>
          </p:cNvSpPr>
          <p:nvPr>
            <p:ph type="title"/>
          </p:nvPr>
        </p:nvSpPr>
        <p:spPr>
          <a:xfrm>
            <a:off x="311699" y="36285"/>
            <a:ext cx="8520602" cy="558801"/>
          </a:xfrm>
          <a:prstGeom prst="rect">
            <a:avLst/>
          </a:prstGeom>
          <a:noFill/>
          <a:ln>
            <a:noFill/>
          </a:ln>
        </p:spPr>
        <p:txBody>
          <a:bodyPr spcFirstLastPara="1" wrap="square" lIns="91400" tIns="91400" rIns="91400" bIns="91400" anchor="t" anchorCtr="0">
            <a:noAutofit/>
          </a:bodyPr>
          <a:lstStyle/>
          <a:p>
            <a:pPr marL="0" lvl="0" indent="0" algn="ctr" rtl="0">
              <a:lnSpc>
                <a:spcPct val="100000"/>
              </a:lnSpc>
              <a:spcBef>
                <a:spcPts val="0"/>
              </a:spcBef>
              <a:spcAft>
                <a:spcPts val="0"/>
              </a:spcAft>
              <a:buSzPts val="1800"/>
              <a:buNone/>
            </a:pPr>
            <a:r>
              <a:rPr lang="en-US" b="1">
                <a:latin typeface="Times New Roman"/>
                <a:ea typeface="Times New Roman"/>
                <a:cs typeface="Times New Roman"/>
                <a:sym typeface="Times New Roman"/>
              </a:rPr>
              <a:t>5. Architecture Diagram</a:t>
            </a:r>
            <a:endParaRPr b="1">
              <a:latin typeface="Times New Roman"/>
              <a:ea typeface="Times New Roman"/>
              <a:cs typeface="Times New Roman"/>
              <a:sym typeface="Times New Roman"/>
            </a:endParaRPr>
          </a:p>
        </p:txBody>
      </p:sp>
      <p:sp>
        <p:nvSpPr>
          <p:cNvPr id="156" name="Google Shape;156;p14"/>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9</a:t>
            </a:fld>
            <a:endParaRPr/>
          </a:p>
        </p:txBody>
      </p:sp>
      <p:pic>
        <p:nvPicPr>
          <p:cNvPr id="2" name="Picture 1">
            <a:extLst>
              <a:ext uri="{FF2B5EF4-FFF2-40B4-BE49-F238E27FC236}">
                <a16:creationId xmlns:a16="http://schemas.microsoft.com/office/drawing/2014/main" id="{A9A38D76-64B7-B9C2-11AB-E0C2671C55D5}"/>
              </a:ext>
            </a:extLst>
          </p:cNvPr>
          <p:cNvPicPr>
            <a:picLocks noChangeAspect="1"/>
          </p:cNvPicPr>
          <p:nvPr/>
        </p:nvPicPr>
        <p:blipFill rotWithShape="1">
          <a:blip r:embed="rId3"/>
          <a:srcRect t="1410" b="6020"/>
          <a:stretch/>
        </p:blipFill>
        <p:spPr>
          <a:xfrm>
            <a:off x="870314" y="659218"/>
            <a:ext cx="7502201" cy="435999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graphicFrame>
        <p:nvGraphicFramePr>
          <p:cNvPr id="169" name="Google Shape;169;p16"/>
          <p:cNvGraphicFramePr/>
          <p:nvPr>
            <p:extLst>
              <p:ext uri="{D42A27DB-BD31-4B8C-83A1-F6EECF244321}">
                <p14:modId xmlns:p14="http://schemas.microsoft.com/office/powerpoint/2010/main" val="2162351301"/>
              </p:ext>
            </p:extLst>
          </p:nvPr>
        </p:nvGraphicFramePr>
        <p:xfrm>
          <a:off x="499264" y="589894"/>
          <a:ext cx="8254250" cy="4071365"/>
        </p:xfrm>
        <a:graphic>
          <a:graphicData uri="http://schemas.openxmlformats.org/drawingml/2006/table">
            <a:tbl>
              <a:tblPr firstRow="1" bandRow="1">
                <a:noFill/>
                <a:tableStyleId>{C1CDC17D-0BAF-49D1-A989-1BA96F3E33D5}</a:tableStyleId>
              </a:tblPr>
              <a:tblGrid>
                <a:gridCol w="1056225">
                  <a:extLst>
                    <a:ext uri="{9D8B030D-6E8A-4147-A177-3AD203B41FA5}">
                      <a16:colId xmlns:a16="http://schemas.microsoft.com/office/drawing/2014/main" val="20000"/>
                    </a:ext>
                  </a:extLst>
                </a:gridCol>
                <a:gridCol w="3115748">
                  <a:extLst>
                    <a:ext uri="{9D8B030D-6E8A-4147-A177-3AD203B41FA5}">
                      <a16:colId xmlns:a16="http://schemas.microsoft.com/office/drawing/2014/main" val="20001"/>
                    </a:ext>
                  </a:extLst>
                </a:gridCol>
                <a:gridCol w="4082277">
                  <a:extLst>
                    <a:ext uri="{9D8B030D-6E8A-4147-A177-3AD203B41FA5}">
                      <a16:colId xmlns:a16="http://schemas.microsoft.com/office/drawing/2014/main" val="20002"/>
                    </a:ext>
                  </a:extLst>
                </a:gridCol>
              </a:tblGrid>
              <a:tr h="392765">
                <a:tc gridSpan="3">
                  <a:txBody>
                    <a:bodyPr/>
                    <a:lstStyle/>
                    <a:p>
                      <a:pPr marL="0" marR="0" lvl="0" indent="0" algn="ctr" rtl="0">
                        <a:lnSpc>
                          <a:spcPct val="150000"/>
                        </a:lnSpc>
                        <a:spcBef>
                          <a:spcPts val="0"/>
                        </a:spcBef>
                        <a:spcAft>
                          <a:spcPts val="0"/>
                        </a:spcAft>
                        <a:buNone/>
                      </a:pPr>
                      <a:r>
                        <a:rPr lang="en-US" sz="1600" u="none" strike="noStrike" cap="none" dirty="0">
                          <a:solidFill>
                            <a:schemeClr val="lt1"/>
                          </a:solidFill>
                          <a:latin typeface="Times New Roman"/>
                          <a:ea typeface="Times New Roman"/>
                          <a:cs typeface="Times New Roman"/>
                          <a:sym typeface="Times New Roman"/>
                        </a:rPr>
                        <a:t>Software Requirements</a:t>
                      </a:r>
                    </a:p>
                  </a:txBody>
                  <a:tcPr marL="91450" marR="91450" marT="45725" marB="45725"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53370">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mn-lt"/>
                          <a:ea typeface="Times New Roman"/>
                          <a:cs typeface="Times New Roman" panose="02020603050405020304" pitchFamily="18" charset="0"/>
                          <a:sym typeface="Times New Roman"/>
                        </a:rPr>
                        <a:t>S.No</a:t>
                      </a:r>
                      <a:endParaRPr>
                        <a:latin typeface="+mn-lt"/>
                        <a:cs typeface="Times New Roman" panose="02020603050405020304" pitchFamily="18" charset="0"/>
                      </a:endParaRPr>
                    </a:p>
                  </a:txBody>
                  <a:tcPr marL="91450" marR="91450" marT="45725" marB="45725" anchor="ctr"/>
                </a:tc>
                <a:tc>
                  <a:txBody>
                    <a:bodyPr/>
                    <a:lstStyle/>
                    <a:p>
                      <a:pPr marL="0" marR="0" lvl="0" indent="0" algn="ctr" rtl="0">
                        <a:lnSpc>
                          <a:spcPct val="150000"/>
                        </a:lnSpc>
                        <a:spcBef>
                          <a:spcPts val="0"/>
                        </a:spcBef>
                        <a:spcAft>
                          <a:spcPts val="0"/>
                        </a:spcAft>
                        <a:buNone/>
                      </a:pPr>
                      <a:r>
                        <a:rPr lang="en-US" sz="1400" u="none" strike="noStrike" cap="none" dirty="0">
                          <a:solidFill>
                            <a:schemeClr val="dk1"/>
                          </a:solidFill>
                          <a:latin typeface="+mn-lt"/>
                          <a:ea typeface="Times New Roman"/>
                          <a:cs typeface="Times New Roman" panose="02020603050405020304" pitchFamily="18" charset="0"/>
                          <a:sym typeface="Times New Roman"/>
                        </a:rPr>
                        <a:t>Action</a:t>
                      </a:r>
                      <a:endParaRPr dirty="0">
                        <a:latin typeface="+mn-lt"/>
                        <a:cs typeface="Times New Roman" panose="02020603050405020304" pitchFamily="18" charset="0"/>
                      </a:endParaRPr>
                    </a:p>
                  </a:txBody>
                  <a:tcPr marL="91450" marR="91450" marT="45725" marB="45725" anchor="ctr"/>
                </a:tc>
                <a:tc>
                  <a:txBody>
                    <a:bodyPr/>
                    <a:lstStyle/>
                    <a:p>
                      <a:pPr marL="0" marR="0" lvl="0" indent="0" algn="ctr" rtl="0">
                        <a:lnSpc>
                          <a:spcPct val="150000"/>
                        </a:lnSpc>
                        <a:spcBef>
                          <a:spcPts val="0"/>
                        </a:spcBef>
                        <a:spcAft>
                          <a:spcPts val="0"/>
                        </a:spcAft>
                        <a:buNone/>
                      </a:pPr>
                      <a:r>
                        <a:rPr lang="en-US" sz="1400" u="none" strike="noStrike" cap="none" dirty="0">
                          <a:solidFill>
                            <a:schemeClr val="dk1"/>
                          </a:solidFill>
                          <a:latin typeface="+mn-lt"/>
                          <a:ea typeface="Times New Roman"/>
                          <a:cs typeface="Times New Roman" panose="02020603050405020304" pitchFamily="18" charset="0"/>
                          <a:sym typeface="Times New Roman"/>
                        </a:rPr>
                        <a:t>Purpose</a:t>
                      </a:r>
                      <a:endParaRPr dirty="0">
                        <a:latin typeface="+mn-lt"/>
                        <a:cs typeface="Times New Roman" panose="02020603050405020304" pitchFamily="18" charset="0"/>
                      </a:endParaRPr>
                    </a:p>
                  </a:txBody>
                  <a:tcPr marL="91450" marR="91450" marT="45725" marB="45725" anchor="ctr"/>
                </a:tc>
                <a:extLst>
                  <a:ext uri="{0D108BD9-81ED-4DB2-BD59-A6C34878D82A}">
                    <a16:rowId xmlns:a16="http://schemas.microsoft.com/office/drawing/2014/main" val="10001"/>
                  </a:ext>
                </a:extLst>
              </a:tr>
              <a:tr h="559087">
                <a:tc>
                  <a:txBody>
                    <a:bodyPr/>
                    <a:lstStyle/>
                    <a:p>
                      <a:pPr marL="0" marR="0" lvl="0" indent="0" algn="ctr" rtl="0">
                        <a:lnSpc>
                          <a:spcPct val="150000"/>
                        </a:lnSpc>
                        <a:spcBef>
                          <a:spcPts val="0"/>
                        </a:spcBef>
                        <a:spcAft>
                          <a:spcPts val="0"/>
                        </a:spcAft>
                        <a:buNone/>
                      </a:pPr>
                      <a:r>
                        <a:rPr lang="en-IN" dirty="0">
                          <a:latin typeface="+mn-lt"/>
                          <a:cs typeface="Times New Roman" panose="02020603050405020304" pitchFamily="18" charset="0"/>
                        </a:rPr>
                        <a:t>1</a:t>
                      </a:r>
                      <a:endParaRPr dirty="0">
                        <a:latin typeface="+mn-lt"/>
                        <a:cs typeface="Times New Roman" panose="02020603050405020304" pitchFamily="18" charset="0"/>
                      </a:endParaRPr>
                    </a:p>
                  </a:txBody>
                  <a:tcPr marL="91450" marR="91450" marT="45725" marB="45725" anchor="ctr"/>
                </a:tc>
                <a:tc>
                  <a:txBody>
                    <a:bodyPr/>
                    <a:lstStyle/>
                    <a:p>
                      <a:pPr marL="0" marR="0" lvl="0" indent="0" algn="l" rtl="0">
                        <a:lnSpc>
                          <a:spcPct val="150000"/>
                        </a:lnSpc>
                        <a:spcBef>
                          <a:spcPts val="0"/>
                        </a:spcBef>
                        <a:spcAft>
                          <a:spcPts val="0"/>
                        </a:spcAft>
                        <a:buNone/>
                      </a:pPr>
                      <a:r>
                        <a:rPr lang="en-US" dirty="0">
                          <a:latin typeface="+mn-lt"/>
                          <a:cs typeface="Times New Roman" panose="02020603050405020304" pitchFamily="18" charset="0"/>
                        </a:rPr>
                        <a:t>Operating System (Windows / Linux / macOS)</a:t>
                      </a:r>
                      <a:endParaRPr sz="1400" u="none" strike="noStrike" cap="none" dirty="0">
                        <a:solidFill>
                          <a:schemeClr val="dk1"/>
                        </a:solidFill>
                        <a:latin typeface="+mn-lt"/>
                        <a:ea typeface="Times New Roman"/>
                        <a:cs typeface="Times New Roman" panose="02020603050405020304" pitchFamily="18" charset="0"/>
                        <a:sym typeface="Times New Roman"/>
                      </a:endParaRPr>
                    </a:p>
                  </a:txBody>
                  <a:tcPr marL="91450" marR="91450" marT="45725" marB="45725" anchor="ctr"/>
                </a:tc>
                <a:tc>
                  <a:txBody>
                    <a:bodyPr/>
                    <a:lstStyle/>
                    <a:p>
                      <a:pPr marL="0" marR="0" lvl="0" indent="0" algn="l" rtl="0">
                        <a:lnSpc>
                          <a:spcPct val="150000"/>
                        </a:lnSpc>
                        <a:spcBef>
                          <a:spcPts val="0"/>
                        </a:spcBef>
                        <a:spcAft>
                          <a:spcPts val="0"/>
                        </a:spcAft>
                        <a:buNone/>
                      </a:pPr>
                      <a:r>
                        <a:rPr lang="en-US" dirty="0">
                          <a:latin typeface="+mn-lt"/>
                          <a:cs typeface="Times New Roman" panose="02020603050405020304" pitchFamily="18" charset="0"/>
                        </a:rPr>
                        <a:t>Provides platform to execute and manage the application</a:t>
                      </a:r>
                      <a:endParaRPr dirty="0">
                        <a:latin typeface="+mn-lt"/>
                        <a:cs typeface="Times New Roman" panose="02020603050405020304" pitchFamily="18" charset="0"/>
                      </a:endParaRPr>
                    </a:p>
                  </a:txBody>
                  <a:tcPr marL="91450" marR="91450" marT="45725" marB="45725" anchor="ctr"/>
                </a:tc>
                <a:extLst>
                  <a:ext uri="{0D108BD9-81ED-4DB2-BD59-A6C34878D82A}">
                    <a16:rowId xmlns:a16="http://schemas.microsoft.com/office/drawing/2014/main" val="10002"/>
                  </a:ext>
                </a:extLst>
              </a:tr>
              <a:tr h="675191">
                <a:tc>
                  <a:txBody>
                    <a:bodyPr/>
                    <a:lstStyle/>
                    <a:p>
                      <a:pPr marL="0" marR="0" lvl="0" indent="0" algn="ctr" rtl="0">
                        <a:lnSpc>
                          <a:spcPct val="150000"/>
                        </a:lnSpc>
                        <a:spcBef>
                          <a:spcPts val="0"/>
                        </a:spcBef>
                        <a:spcAft>
                          <a:spcPts val="0"/>
                        </a:spcAft>
                        <a:buNone/>
                      </a:pPr>
                      <a:r>
                        <a:rPr lang="en-IN" dirty="0">
                          <a:latin typeface="+mn-lt"/>
                          <a:cs typeface="Times New Roman" panose="02020603050405020304" pitchFamily="18" charset="0"/>
                        </a:rPr>
                        <a:t>2</a:t>
                      </a:r>
                      <a:endParaRPr dirty="0">
                        <a:latin typeface="+mn-lt"/>
                        <a:cs typeface="Times New Roman" panose="02020603050405020304" pitchFamily="18" charset="0"/>
                      </a:endParaRPr>
                    </a:p>
                  </a:txBody>
                  <a:tcPr marL="91450" marR="91450" marT="45725" marB="45725" anchor="ctr"/>
                </a:tc>
                <a:tc>
                  <a:txBody>
                    <a:bodyPr/>
                    <a:lstStyle/>
                    <a:p>
                      <a:pPr marL="0" marR="0" lvl="0" indent="0" algn="l" rtl="0">
                        <a:lnSpc>
                          <a:spcPct val="150000"/>
                        </a:lnSpc>
                        <a:spcBef>
                          <a:spcPts val="0"/>
                        </a:spcBef>
                        <a:spcAft>
                          <a:spcPts val="0"/>
                        </a:spcAft>
                        <a:buNone/>
                      </a:pPr>
                      <a:r>
                        <a:rPr lang="en-IN" dirty="0">
                          <a:latin typeface="+mn-lt"/>
                          <a:cs typeface="Times New Roman" panose="02020603050405020304" pitchFamily="18" charset="0"/>
                        </a:rPr>
                        <a:t>Python 3.10.9</a:t>
                      </a:r>
                      <a:endParaRPr sz="1400" u="none" strike="noStrike" cap="none" dirty="0">
                        <a:solidFill>
                          <a:schemeClr val="dk1"/>
                        </a:solidFill>
                        <a:latin typeface="+mn-lt"/>
                        <a:ea typeface="Times New Roman"/>
                        <a:cs typeface="Times New Roman" panose="02020603050405020304" pitchFamily="18" charset="0"/>
                        <a:sym typeface="Times New Roman"/>
                      </a:endParaRPr>
                    </a:p>
                  </a:txBody>
                  <a:tcPr marL="91450" marR="91450" marT="45725" marB="45725" anchor="ctr"/>
                </a:tc>
                <a:tc>
                  <a:txBody>
                    <a:bodyPr/>
                    <a:lstStyle/>
                    <a:p>
                      <a:pPr marL="0" marR="0" lvl="0" indent="0" algn="l" rtl="0">
                        <a:lnSpc>
                          <a:spcPct val="150000"/>
                        </a:lnSpc>
                        <a:spcBef>
                          <a:spcPts val="0"/>
                        </a:spcBef>
                        <a:spcAft>
                          <a:spcPts val="0"/>
                        </a:spcAft>
                        <a:buClr>
                          <a:srgbClr val="000000"/>
                        </a:buClr>
                        <a:buSzPts val="1400"/>
                        <a:buFont typeface="Arial"/>
                        <a:buNone/>
                      </a:pPr>
                      <a:r>
                        <a:rPr lang="en-IN" dirty="0">
                          <a:latin typeface="+mn-lt"/>
                          <a:cs typeface="Times New Roman" panose="02020603050405020304" pitchFamily="18" charset="0"/>
                        </a:rPr>
                        <a:t>Core programming language for implementing DQN</a:t>
                      </a:r>
                      <a:endParaRPr dirty="0">
                        <a:latin typeface="+mn-lt"/>
                        <a:cs typeface="Times New Roman" panose="02020603050405020304" pitchFamily="18" charset="0"/>
                      </a:endParaRPr>
                    </a:p>
                  </a:txBody>
                  <a:tcPr marL="91450" marR="91450" marT="45725" marB="45725" anchor="ctr"/>
                </a:tc>
                <a:extLst>
                  <a:ext uri="{0D108BD9-81ED-4DB2-BD59-A6C34878D82A}">
                    <a16:rowId xmlns:a16="http://schemas.microsoft.com/office/drawing/2014/main" val="10003"/>
                  </a:ext>
                </a:extLst>
              </a:tr>
              <a:tr h="649528">
                <a:tc>
                  <a:txBody>
                    <a:bodyPr/>
                    <a:lstStyle/>
                    <a:p>
                      <a:pPr marL="0" marR="0" lvl="0" indent="0" algn="ctr" rtl="0">
                        <a:lnSpc>
                          <a:spcPct val="150000"/>
                        </a:lnSpc>
                        <a:spcBef>
                          <a:spcPts val="0"/>
                        </a:spcBef>
                        <a:spcAft>
                          <a:spcPts val="0"/>
                        </a:spcAft>
                        <a:buNone/>
                      </a:pPr>
                      <a:r>
                        <a:rPr lang="en-IN" dirty="0">
                          <a:latin typeface="+mn-lt"/>
                          <a:cs typeface="Times New Roman" panose="02020603050405020304" pitchFamily="18" charset="0"/>
                        </a:rPr>
                        <a:t>3</a:t>
                      </a:r>
                      <a:endParaRPr dirty="0">
                        <a:latin typeface="+mn-lt"/>
                        <a:cs typeface="Times New Roman" panose="02020603050405020304" pitchFamily="18" charset="0"/>
                      </a:endParaRPr>
                    </a:p>
                  </a:txBody>
                  <a:tcPr marL="91450" marR="91450" marT="45725" marB="45725" anchor="ctr"/>
                </a:tc>
                <a:tc>
                  <a:txBody>
                    <a:bodyPr/>
                    <a:lstStyle/>
                    <a:p>
                      <a:pPr>
                        <a:buNone/>
                      </a:pPr>
                      <a:r>
                        <a:rPr lang="en-IN" dirty="0" err="1">
                          <a:latin typeface="+mn-lt"/>
                          <a:cs typeface="Times New Roman" panose="02020603050405020304" pitchFamily="18" charset="0"/>
                        </a:rPr>
                        <a:t>PyTorch</a:t>
                      </a:r>
                      <a:r>
                        <a:rPr lang="en-IN" dirty="0">
                          <a:latin typeface="+mn-lt"/>
                          <a:cs typeface="Times New Roman" panose="02020603050405020304" pitchFamily="18" charset="0"/>
                        </a:rPr>
                        <a:t> Library</a:t>
                      </a:r>
                    </a:p>
                  </a:txBody>
                  <a:tcPr anchor="ctr"/>
                </a:tc>
                <a:tc>
                  <a:txBody>
                    <a:bodyPr/>
                    <a:lstStyle/>
                    <a:p>
                      <a:pPr marL="0" marR="0" lvl="0" indent="0" algn="l" rtl="0">
                        <a:lnSpc>
                          <a:spcPct val="150000"/>
                        </a:lnSpc>
                        <a:spcBef>
                          <a:spcPts val="0"/>
                        </a:spcBef>
                        <a:spcAft>
                          <a:spcPts val="0"/>
                        </a:spcAft>
                        <a:buClr>
                          <a:srgbClr val="000000"/>
                        </a:buClr>
                        <a:buSzPts val="1400"/>
                        <a:buFont typeface="Arial"/>
                        <a:buNone/>
                      </a:pPr>
                      <a:r>
                        <a:rPr lang="en-US" sz="1400" i="0" u="none" strike="noStrike" cap="none" dirty="0">
                          <a:solidFill>
                            <a:schemeClr val="dk1"/>
                          </a:solidFill>
                          <a:latin typeface="+mn-lt"/>
                          <a:ea typeface="Times New Roman"/>
                          <a:cs typeface="Times New Roman" panose="02020603050405020304" pitchFamily="18" charset="0"/>
                          <a:sym typeface="Times New Roman"/>
                        </a:rPr>
                        <a:t>Used to build, train, and optimize the Deep Q-Network model</a:t>
                      </a:r>
                      <a:endParaRPr sz="1400" i="0" u="none" strike="noStrike" cap="none" dirty="0">
                        <a:solidFill>
                          <a:schemeClr val="dk1"/>
                        </a:solidFill>
                        <a:latin typeface="+mn-lt"/>
                        <a:ea typeface="Times New Roman"/>
                        <a:cs typeface="Times New Roman" panose="02020603050405020304" pitchFamily="18" charset="0"/>
                        <a:sym typeface="Times New Roman"/>
                      </a:endParaRPr>
                    </a:p>
                  </a:txBody>
                  <a:tcPr marL="91450" marR="91450" marT="45725" marB="45725" anchor="ctr"/>
                </a:tc>
                <a:extLst>
                  <a:ext uri="{0D108BD9-81ED-4DB2-BD59-A6C34878D82A}">
                    <a16:rowId xmlns:a16="http://schemas.microsoft.com/office/drawing/2014/main" val="10004"/>
                  </a:ext>
                </a:extLst>
              </a:tr>
              <a:tr h="638042">
                <a:tc>
                  <a:txBody>
                    <a:bodyPr/>
                    <a:lstStyle/>
                    <a:p>
                      <a:pPr marL="0" marR="0" lvl="0" indent="0" algn="ctr" rtl="0">
                        <a:lnSpc>
                          <a:spcPct val="150000"/>
                        </a:lnSpc>
                        <a:spcBef>
                          <a:spcPts val="0"/>
                        </a:spcBef>
                        <a:spcAft>
                          <a:spcPts val="0"/>
                        </a:spcAft>
                        <a:buNone/>
                      </a:pPr>
                      <a:r>
                        <a:rPr lang="en-IN" dirty="0">
                          <a:latin typeface="+mn-lt"/>
                          <a:cs typeface="Times New Roman" panose="02020603050405020304" pitchFamily="18" charset="0"/>
                        </a:rPr>
                        <a:t>4</a:t>
                      </a:r>
                      <a:endParaRPr dirty="0">
                        <a:latin typeface="+mn-lt"/>
                        <a:cs typeface="Times New Roman" panose="02020603050405020304" pitchFamily="18" charset="0"/>
                      </a:endParaRPr>
                    </a:p>
                  </a:txBody>
                  <a:tcPr marL="91450" marR="91450" marT="45725" marB="45725" anchor="ctr"/>
                </a:tc>
                <a:tc>
                  <a:txBody>
                    <a:bodyPr/>
                    <a:lstStyle/>
                    <a:p>
                      <a:pPr marL="0" marR="0" lvl="0" indent="0" algn="l" rtl="0">
                        <a:lnSpc>
                          <a:spcPct val="150000"/>
                        </a:lnSpc>
                        <a:spcBef>
                          <a:spcPts val="0"/>
                        </a:spcBef>
                        <a:spcAft>
                          <a:spcPts val="0"/>
                        </a:spcAft>
                        <a:buNone/>
                      </a:pPr>
                      <a:r>
                        <a:rPr lang="en-IN" dirty="0">
                          <a:latin typeface="+mn-lt"/>
                          <a:cs typeface="Times New Roman" panose="02020603050405020304" pitchFamily="18" charset="0"/>
                        </a:rPr>
                        <a:t>NumPy</a:t>
                      </a:r>
                      <a:endParaRPr dirty="0">
                        <a:latin typeface="+mn-lt"/>
                        <a:cs typeface="Times New Roman" panose="02020603050405020304" pitchFamily="18" charset="0"/>
                      </a:endParaRPr>
                    </a:p>
                  </a:txBody>
                  <a:tcPr marL="91450" marR="91450" marT="45725" marB="45725" anchor="ctr"/>
                </a:tc>
                <a:tc>
                  <a:txBody>
                    <a:bodyPr/>
                    <a:lstStyle/>
                    <a:p>
                      <a:pPr marL="0" marR="0" lvl="0" indent="0" algn="l" rtl="0">
                        <a:lnSpc>
                          <a:spcPct val="150000"/>
                        </a:lnSpc>
                        <a:spcBef>
                          <a:spcPts val="0"/>
                        </a:spcBef>
                        <a:spcAft>
                          <a:spcPts val="0"/>
                        </a:spcAft>
                        <a:buNone/>
                      </a:pPr>
                      <a:r>
                        <a:rPr lang="en-US" dirty="0">
                          <a:latin typeface="+mn-lt"/>
                          <a:cs typeface="Times New Roman" panose="02020603050405020304" pitchFamily="18" charset="0"/>
                        </a:rPr>
                        <a:t>Supports numerical computations and array operations</a:t>
                      </a:r>
                      <a:endParaRPr dirty="0">
                        <a:latin typeface="+mn-lt"/>
                        <a:cs typeface="Times New Roman" panose="02020603050405020304" pitchFamily="18" charset="0"/>
                      </a:endParaRPr>
                    </a:p>
                  </a:txBody>
                  <a:tcPr marL="91450" marR="91450" marT="45725" marB="45725" anchor="ctr"/>
                </a:tc>
                <a:extLst>
                  <a:ext uri="{0D108BD9-81ED-4DB2-BD59-A6C34878D82A}">
                    <a16:rowId xmlns:a16="http://schemas.microsoft.com/office/drawing/2014/main" val="10005"/>
                  </a:ext>
                </a:extLst>
              </a:tr>
              <a:tr h="492303">
                <a:tc>
                  <a:txBody>
                    <a:bodyPr/>
                    <a:lstStyle/>
                    <a:p>
                      <a:pPr marL="0" marR="0" lvl="0" indent="0" algn="ctr" rtl="0">
                        <a:lnSpc>
                          <a:spcPct val="150000"/>
                        </a:lnSpc>
                        <a:spcBef>
                          <a:spcPts val="0"/>
                        </a:spcBef>
                        <a:spcAft>
                          <a:spcPts val="0"/>
                        </a:spcAft>
                        <a:buNone/>
                      </a:pPr>
                      <a:r>
                        <a:rPr lang="en-IN" dirty="0">
                          <a:latin typeface="+mn-lt"/>
                          <a:cs typeface="Times New Roman" panose="02020603050405020304" pitchFamily="18" charset="0"/>
                        </a:rPr>
                        <a:t>5</a:t>
                      </a:r>
                      <a:endParaRPr dirty="0">
                        <a:latin typeface="+mn-lt"/>
                        <a:cs typeface="Times New Roman" panose="02020603050405020304" pitchFamily="18" charset="0"/>
                      </a:endParaRPr>
                    </a:p>
                  </a:txBody>
                  <a:tcPr marL="91450" marR="91450" marT="45725" marB="45725" anchor="ctr"/>
                </a:tc>
                <a:tc>
                  <a:txBody>
                    <a:bodyPr/>
                    <a:lstStyle/>
                    <a:p>
                      <a:pPr>
                        <a:buNone/>
                      </a:pPr>
                      <a:r>
                        <a:rPr lang="en-IN" dirty="0">
                          <a:latin typeface="+mn-lt"/>
                          <a:cs typeface="Times New Roman" panose="02020603050405020304" pitchFamily="18" charset="0"/>
                        </a:rPr>
                        <a:t>Python-Chess Library</a:t>
                      </a:r>
                    </a:p>
                  </a:txBody>
                  <a:tcPr anchor="ctr"/>
                </a:tc>
                <a:tc>
                  <a:txBody>
                    <a:bodyPr/>
                    <a:lstStyle/>
                    <a:p>
                      <a:pPr>
                        <a:buNone/>
                      </a:pPr>
                      <a:r>
                        <a:rPr lang="en-US" dirty="0">
                          <a:latin typeface="+mn-lt"/>
                          <a:cs typeface="Times New Roman" panose="02020603050405020304" pitchFamily="18" charset="0"/>
                        </a:rPr>
                        <a:t>Provides chessboard representation, legal moves, and game rules</a:t>
                      </a:r>
                      <a:endParaRPr lang="en-IN" dirty="0">
                        <a:latin typeface="+mn-lt"/>
                        <a:cs typeface="Times New Roman" panose="02020603050405020304" pitchFamily="18" charset="0"/>
                      </a:endParaRPr>
                    </a:p>
                  </a:txBody>
                  <a:tcPr anchor="ctr"/>
                </a:tc>
                <a:extLst>
                  <a:ext uri="{0D108BD9-81ED-4DB2-BD59-A6C34878D82A}">
                    <a16:rowId xmlns:a16="http://schemas.microsoft.com/office/drawing/2014/main" val="10006"/>
                  </a:ext>
                </a:extLst>
              </a:tr>
            </a:tbl>
          </a:graphicData>
        </a:graphic>
      </p:graphicFrame>
      <p:sp>
        <p:nvSpPr>
          <p:cNvPr id="170" name="Google Shape;170;p16"/>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10</a:t>
            </a:fld>
            <a:endParaRPr/>
          </a:p>
        </p:txBody>
      </p:sp>
      <p:sp>
        <p:nvSpPr>
          <p:cNvPr id="171" name="Google Shape;171;p16"/>
          <p:cNvSpPr txBox="1">
            <a:spLocks noGrp="1"/>
          </p:cNvSpPr>
          <p:nvPr>
            <p:ph type="title"/>
          </p:nvPr>
        </p:nvSpPr>
        <p:spPr>
          <a:xfrm>
            <a:off x="311699" y="0"/>
            <a:ext cx="8520602" cy="572701"/>
          </a:xfrm>
          <a:prstGeom prst="rect">
            <a:avLst/>
          </a:prstGeom>
          <a:noFill/>
          <a:ln>
            <a:noFill/>
          </a:ln>
        </p:spPr>
        <p:txBody>
          <a:bodyPr spcFirstLastPara="1" wrap="square" lIns="91400" tIns="91400" rIns="91400" bIns="91400" anchor="t" anchorCtr="0">
            <a:noAutofit/>
          </a:bodyPr>
          <a:lstStyle/>
          <a:p>
            <a:pPr marL="0" lvl="0" indent="0" algn="ctr" rtl="0">
              <a:lnSpc>
                <a:spcPct val="100000"/>
              </a:lnSpc>
              <a:spcBef>
                <a:spcPts val="0"/>
              </a:spcBef>
              <a:spcAft>
                <a:spcPts val="0"/>
              </a:spcAft>
              <a:buSzPts val="1800"/>
              <a:buNone/>
            </a:pPr>
            <a:r>
              <a:rPr lang="en-US" sz="2400" b="1" dirty="0">
                <a:latin typeface="Times New Roman"/>
                <a:ea typeface="Times New Roman"/>
                <a:cs typeface="Times New Roman"/>
                <a:sym typeface="Times New Roman"/>
              </a:rPr>
              <a:t>Software &amp; Hardware Requirements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a:extLst>
            <a:ext uri="{FF2B5EF4-FFF2-40B4-BE49-F238E27FC236}">
              <a16:creationId xmlns:a16="http://schemas.microsoft.com/office/drawing/2014/main" id="{959A0C1A-4ABF-7F8F-A7FC-B46A93849E2E}"/>
            </a:ext>
          </a:extLst>
        </p:cNvPr>
        <p:cNvGrpSpPr/>
        <p:nvPr/>
      </p:nvGrpSpPr>
      <p:grpSpPr>
        <a:xfrm>
          <a:off x="0" y="0"/>
          <a:ext cx="0" cy="0"/>
          <a:chOff x="0" y="0"/>
          <a:chExt cx="0" cy="0"/>
        </a:xfrm>
      </p:grpSpPr>
      <p:graphicFrame>
        <p:nvGraphicFramePr>
          <p:cNvPr id="169" name="Google Shape;169;p16">
            <a:extLst>
              <a:ext uri="{FF2B5EF4-FFF2-40B4-BE49-F238E27FC236}">
                <a16:creationId xmlns:a16="http://schemas.microsoft.com/office/drawing/2014/main" id="{99BE3A98-9961-BA96-545A-765971C3A40F}"/>
              </a:ext>
            </a:extLst>
          </p:cNvPr>
          <p:cNvGraphicFramePr/>
          <p:nvPr>
            <p:extLst>
              <p:ext uri="{D42A27DB-BD31-4B8C-83A1-F6EECF244321}">
                <p14:modId xmlns:p14="http://schemas.microsoft.com/office/powerpoint/2010/main" val="3236893267"/>
              </p:ext>
            </p:extLst>
          </p:nvPr>
        </p:nvGraphicFramePr>
        <p:xfrm>
          <a:off x="439154" y="742956"/>
          <a:ext cx="8254250" cy="4022890"/>
        </p:xfrm>
        <a:graphic>
          <a:graphicData uri="http://schemas.openxmlformats.org/drawingml/2006/table">
            <a:tbl>
              <a:tblPr firstRow="1" bandRow="1">
                <a:noFill/>
                <a:tableStyleId>{C1CDC17D-0BAF-49D1-A989-1BA96F3E33D5}</a:tableStyleId>
              </a:tblPr>
              <a:tblGrid>
                <a:gridCol w="1056225">
                  <a:extLst>
                    <a:ext uri="{9D8B030D-6E8A-4147-A177-3AD203B41FA5}">
                      <a16:colId xmlns:a16="http://schemas.microsoft.com/office/drawing/2014/main" val="20000"/>
                    </a:ext>
                  </a:extLst>
                </a:gridCol>
                <a:gridCol w="3257650">
                  <a:extLst>
                    <a:ext uri="{9D8B030D-6E8A-4147-A177-3AD203B41FA5}">
                      <a16:colId xmlns:a16="http://schemas.microsoft.com/office/drawing/2014/main" val="20001"/>
                    </a:ext>
                  </a:extLst>
                </a:gridCol>
                <a:gridCol w="3940375">
                  <a:extLst>
                    <a:ext uri="{9D8B030D-6E8A-4147-A177-3AD203B41FA5}">
                      <a16:colId xmlns:a16="http://schemas.microsoft.com/office/drawing/2014/main" val="20002"/>
                    </a:ext>
                  </a:extLst>
                </a:gridCol>
              </a:tblGrid>
              <a:tr h="439825">
                <a:tc gridSpan="3">
                  <a:txBody>
                    <a:bodyPr/>
                    <a:lstStyle/>
                    <a:p>
                      <a:pPr marL="0" marR="0" lvl="0" indent="0" algn="ctr" rtl="0">
                        <a:lnSpc>
                          <a:spcPct val="150000"/>
                        </a:lnSpc>
                        <a:spcBef>
                          <a:spcPts val="0"/>
                        </a:spcBef>
                        <a:spcAft>
                          <a:spcPts val="0"/>
                        </a:spcAft>
                        <a:buNone/>
                      </a:pPr>
                      <a:r>
                        <a:rPr lang="en-US" sz="1600" u="none" strike="noStrike" cap="none" dirty="0">
                          <a:solidFill>
                            <a:schemeClr val="lt1"/>
                          </a:solidFill>
                          <a:latin typeface="Times New Roman"/>
                          <a:ea typeface="Times New Roman"/>
                          <a:cs typeface="Times New Roman"/>
                          <a:sym typeface="Times New Roman"/>
                        </a:rPr>
                        <a:t>Hardware Requirements</a:t>
                      </a:r>
                      <a:endParaRPr dirty="0"/>
                    </a:p>
                  </a:txBody>
                  <a:tcPr marL="91450" marR="91450" marT="45725" marB="45725"/>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39825">
                <a:tc>
                  <a:txBody>
                    <a:bodyPr/>
                    <a:lstStyle/>
                    <a:p>
                      <a:pPr marL="0" marR="0" lvl="0" indent="0" algn="ctr" rtl="0">
                        <a:lnSpc>
                          <a:spcPct val="150000"/>
                        </a:lnSpc>
                        <a:spcBef>
                          <a:spcPts val="0"/>
                        </a:spcBef>
                        <a:spcAft>
                          <a:spcPts val="0"/>
                        </a:spcAft>
                        <a:buNone/>
                      </a:pPr>
                      <a:r>
                        <a:rPr lang="en-US" sz="1400"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S.No</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Times New Roman" panose="02020603050405020304" pitchFamily="18" charset="0"/>
                          <a:ea typeface="Times New Roman"/>
                          <a:cs typeface="Times New Roman" panose="02020603050405020304" pitchFamily="18" charset="0"/>
                          <a:sym typeface="Times New Roman"/>
                        </a:rPr>
                        <a:t>Action</a:t>
                      </a:r>
                      <a:endParaRPr>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Times New Roman" panose="02020603050405020304" pitchFamily="18" charset="0"/>
                          <a:ea typeface="Times New Roman"/>
                          <a:cs typeface="Times New Roman" panose="02020603050405020304" pitchFamily="18" charset="0"/>
                          <a:sym typeface="Times New Roman"/>
                        </a:rPr>
                        <a:t>Purpose</a:t>
                      </a:r>
                      <a:endParaRPr>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r h="439825">
                <a:tc>
                  <a:txBody>
                    <a:bodyPr/>
                    <a:lstStyle/>
                    <a:p>
                      <a:pPr algn="ctr">
                        <a:buNone/>
                      </a:pPr>
                      <a:r>
                        <a:rPr lang="en-IN" dirty="0">
                          <a:latin typeface="+mn-lt"/>
                          <a:cs typeface="Times New Roman" panose="02020603050405020304" pitchFamily="18" charset="0"/>
                        </a:rPr>
                        <a:t>1</a:t>
                      </a:r>
                    </a:p>
                  </a:txBody>
                  <a:tcPr anchor="ctr"/>
                </a:tc>
                <a:tc>
                  <a:txBody>
                    <a:bodyPr/>
                    <a:lstStyle/>
                    <a:p>
                      <a:pPr algn="l">
                        <a:buNone/>
                      </a:pPr>
                      <a:r>
                        <a:rPr lang="en-IN" dirty="0">
                          <a:latin typeface="+mn-lt"/>
                          <a:cs typeface="Times New Roman" panose="02020603050405020304" pitchFamily="18" charset="0"/>
                        </a:rPr>
                        <a:t>Processor (Intel/AMD)</a:t>
                      </a:r>
                    </a:p>
                  </a:txBody>
                  <a:tcPr anchor="ctr"/>
                </a:tc>
                <a:tc>
                  <a:txBody>
                    <a:bodyPr/>
                    <a:lstStyle/>
                    <a:p>
                      <a:pPr algn="l">
                        <a:buNone/>
                      </a:pPr>
                      <a:r>
                        <a:rPr lang="en-IN" dirty="0">
                          <a:latin typeface="+mn-lt"/>
                          <a:cs typeface="Times New Roman" panose="02020603050405020304" pitchFamily="18" charset="0"/>
                        </a:rPr>
                        <a:t>Executes reinforcement learning computations</a:t>
                      </a:r>
                    </a:p>
                  </a:txBody>
                  <a:tcPr anchor="ctr"/>
                </a:tc>
                <a:extLst>
                  <a:ext uri="{0D108BD9-81ED-4DB2-BD59-A6C34878D82A}">
                    <a16:rowId xmlns:a16="http://schemas.microsoft.com/office/drawing/2014/main" val="10002"/>
                  </a:ext>
                </a:extLst>
              </a:tr>
              <a:tr h="439825">
                <a:tc>
                  <a:txBody>
                    <a:bodyPr/>
                    <a:lstStyle/>
                    <a:p>
                      <a:pPr marL="0" marR="0" lvl="0" indent="0" algn="ctr" rtl="0">
                        <a:lnSpc>
                          <a:spcPct val="150000"/>
                        </a:lnSpc>
                        <a:spcBef>
                          <a:spcPts val="0"/>
                        </a:spcBef>
                        <a:spcAft>
                          <a:spcPts val="0"/>
                        </a:spcAft>
                        <a:buNone/>
                      </a:pPr>
                      <a:r>
                        <a:rPr lang="en-IN" dirty="0">
                          <a:latin typeface="+mn-lt"/>
                          <a:cs typeface="Times New Roman" panose="02020603050405020304" pitchFamily="18" charset="0"/>
                        </a:rPr>
                        <a:t>2</a:t>
                      </a:r>
                      <a:endParaRPr dirty="0">
                        <a:latin typeface="+mn-lt"/>
                        <a:cs typeface="Times New Roman" panose="02020603050405020304" pitchFamily="18" charset="0"/>
                      </a:endParaRPr>
                    </a:p>
                  </a:txBody>
                  <a:tcPr marL="91450" marR="91450" marT="45725" marB="45725"/>
                </a:tc>
                <a:tc>
                  <a:txBody>
                    <a:bodyPr/>
                    <a:lstStyle/>
                    <a:p>
                      <a:pPr>
                        <a:buNone/>
                      </a:pPr>
                      <a:r>
                        <a:rPr lang="en-US" dirty="0">
                          <a:latin typeface="+mn-lt"/>
                          <a:cs typeface="Times New Roman" panose="02020603050405020304" pitchFamily="18" charset="0"/>
                        </a:rPr>
                        <a:t>RAM (Minimum 8 GB)</a:t>
                      </a:r>
                      <a:endParaRPr lang="en-IN" dirty="0">
                        <a:latin typeface="+mn-lt"/>
                        <a:cs typeface="Times New Roman" panose="02020603050405020304" pitchFamily="18" charset="0"/>
                      </a:endParaRPr>
                    </a:p>
                  </a:txBody>
                  <a:tcPr anchor="ctr"/>
                </a:tc>
                <a:tc>
                  <a:txBody>
                    <a:bodyPr/>
                    <a:lstStyle/>
                    <a:p>
                      <a:pPr marL="0" marR="0" lvl="0" indent="0" algn="l" rtl="0">
                        <a:lnSpc>
                          <a:spcPct val="150000"/>
                        </a:lnSpc>
                        <a:spcBef>
                          <a:spcPts val="0"/>
                        </a:spcBef>
                        <a:spcAft>
                          <a:spcPts val="0"/>
                        </a:spcAft>
                        <a:buClr>
                          <a:srgbClr val="000000"/>
                        </a:buClr>
                        <a:buSzPts val="1400"/>
                        <a:buFont typeface="Arial"/>
                        <a:buNone/>
                      </a:pPr>
                      <a:r>
                        <a:rPr lang="en-US" sz="1400" i="0" u="none" strike="noStrike" cap="none" dirty="0">
                          <a:solidFill>
                            <a:schemeClr val="dk1"/>
                          </a:solidFill>
                          <a:latin typeface="+mn-lt"/>
                          <a:ea typeface="Times New Roman"/>
                          <a:cs typeface="Times New Roman" panose="02020603050405020304" pitchFamily="18" charset="0"/>
                          <a:sym typeface="Times New Roman"/>
                        </a:rPr>
                        <a:t>Stores neural network parameters and replay buffer</a:t>
                      </a:r>
                      <a:endParaRPr sz="1400" i="0" u="none" strike="noStrike" cap="none" dirty="0">
                        <a:solidFill>
                          <a:schemeClr val="dk1"/>
                        </a:solidFill>
                        <a:latin typeface="+mn-lt"/>
                        <a:ea typeface="Times New Roman"/>
                        <a:cs typeface="Times New Roman" panose="02020603050405020304" pitchFamily="18" charset="0"/>
                        <a:sym typeface="Times New Roman"/>
                      </a:endParaRPr>
                    </a:p>
                  </a:txBody>
                  <a:tcPr marL="91450" marR="91450" marT="45725" marB="45725"/>
                </a:tc>
                <a:extLst>
                  <a:ext uri="{0D108BD9-81ED-4DB2-BD59-A6C34878D82A}">
                    <a16:rowId xmlns:a16="http://schemas.microsoft.com/office/drawing/2014/main" val="10004"/>
                  </a:ext>
                </a:extLst>
              </a:tr>
              <a:tr h="439825">
                <a:tc>
                  <a:txBody>
                    <a:bodyPr/>
                    <a:lstStyle/>
                    <a:p>
                      <a:pPr marL="0" marR="0" lvl="0" indent="0" algn="ctr" rtl="0">
                        <a:lnSpc>
                          <a:spcPct val="150000"/>
                        </a:lnSpc>
                        <a:spcBef>
                          <a:spcPts val="0"/>
                        </a:spcBef>
                        <a:spcAft>
                          <a:spcPts val="0"/>
                        </a:spcAft>
                        <a:buNone/>
                      </a:pPr>
                      <a:r>
                        <a:rPr lang="en-IN" dirty="0">
                          <a:latin typeface="+mn-lt"/>
                          <a:cs typeface="Times New Roman" panose="02020603050405020304" pitchFamily="18" charset="0"/>
                        </a:rPr>
                        <a:t>3</a:t>
                      </a:r>
                      <a:endParaRPr dirty="0">
                        <a:latin typeface="+mn-lt"/>
                        <a:cs typeface="Times New Roman" panose="02020603050405020304" pitchFamily="18" charset="0"/>
                      </a:endParaRPr>
                    </a:p>
                  </a:txBody>
                  <a:tcPr marL="91450" marR="91450" marT="45725" marB="45725"/>
                </a:tc>
                <a:tc>
                  <a:txBody>
                    <a:bodyPr/>
                    <a:lstStyle/>
                    <a:p>
                      <a:pPr>
                        <a:buNone/>
                      </a:pPr>
                      <a:r>
                        <a:rPr lang="en-IN" dirty="0">
                          <a:latin typeface="+mn-lt"/>
                          <a:cs typeface="Times New Roman" panose="02020603050405020304" pitchFamily="18" charset="0"/>
                        </a:rPr>
                        <a:t>Storage (Minimum 20 GB)</a:t>
                      </a:r>
                    </a:p>
                  </a:txBody>
                  <a:tcPr anchor="ctr"/>
                </a:tc>
                <a:tc>
                  <a:txBody>
                    <a:bodyPr/>
                    <a:lstStyle/>
                    <a:p>
                      <a:pPr marL="0" marR="0" lvl="0" indent="0" algn="l" rtl="0">
                        <a:lnSpc>
                          <a:spcPct val="150000"/>
                        </a:lnSpc>
                        <a:spcBef>
                          <a:spcPts val="0"/>
                        </a:spcBef>
                        <a:spcAft>
                          <a:spcPts val="0"/>
                        </a:spcAft>
                        <a:buNone/>
                      </a:pPr>
                      <a:r>
                        <a:rPr lang="en-US" dirty="0">
                          <a:latin typeface="+mn-lt"/>
                          <a:cs typeface="Times New Roman" panose="02020603050405020304" pitchFamily="18" charset="0"/>
                        </a:rPr>
                        <a:t>Holds software libraries, datasets, and program files</a:t>
                      </a:r>
                      <a:endParaRPr dirty="0">
                        <a:latin typeface="+mn-lt"/>
                        <a:cs typeface="Times New Roman" panose="02020603050405020304" pitchFamily="18" charset="0"/>
                      </a:endParaRPr>
                    </a:p>
                  </a:txBody>
                  <a:tcPr marL="91450" marR="91450" marT="45725" marB="45725"/>
                </a:tc>
                <a:extLst>
                  <a:ext uri="{0D108BD9-81ED-4DB2-BD59-A6C34878D82A}">
                    <a16:rowId xmlns:a16="http://schemas.microsoft.com/office/drawing/2014/main" val="10005"/>
                  </a:ext>
                </a:extLst>
              </a:tr>
              <a:tr h="439825">
                <a:tc>
                  <a:txBody>
                    <a:bodyPr/>
                    <a:lstStyle/>
                    <a:p>
                      <a:pPr marL="0" marR="0" lvl="0" indent="0" algn="ctr" rtl="0">
                        <a:lnSpc>
                          <a:spcPct val="150000"/>
                        </a:lnSpc>
                        <a:spcBef>
                          <a:spcPts val="0"/>
                        </a:spcBef>
                        <a:spcAft>
                          <a:spcPts val="0"/>
                        </a:spcAft>
                        <a:buNone/>
                      </a:pPr>
                      <a:r>
                        <a:rPr lang="en-IN" dirty="0">
                          <a:latin typeface="+mn-lt"/>
                          <a:cs typeface="Times New Roman" panose="02020603050405020304" pitchFamily="18" charset="0"/>
                        </a:rPr>
                        <a:t>4</a:t>
                      </a:r>
                      <a:endParaRPr dirty="0">
                        <a:latin typeface="+mn-lt"/>
                        <a:cs typeface="Times New Roman" panose="02020603050405020304" pitchFamily="18" charset="0"/>
                      </a:endParaRPr>
                    </a:p>
                  </a:txBody>
                  <a:tcPr marL="91450" marR="91450" marT="45725" marB="45725"/>
                </a:tc>
                <a:tc>
                  <a:txBody>
                    <a:bodyPr/>
                    <a:lstStyle/>
                    <a:p>
                      <a:pPr marL="0" marR="0" lvl="0" indent="0" algn="l" rtl="0">
                        <a:lnSpc>
                          <a:spcPct val="150000"/>
                        </a:lnSpc>
                        <a:spcBef>
                          <a:spcPts val="0"/>
                        </a:spcBef>
                        <a:spcAft>
                          <a:spcPts val="0"/>
                        </a:spcAft>
                        <a:buClr>
                          <a:srgbClr val="000000"/>
                        </a:buClr>
                        <a:buSzPts val="1400"/>
                        <a:buFont typeface="Arial"/>
                        <a:buNone/>
                      </a:pPr>
                      <a:r>
                        <a:rPr lang="en-US" dirty="0">
                          <a:latin typeface="+mn-lt"/>
                          <a:cs typeface="Times New Roman" panose="02020603050405020304" pitchFamily="18" charset="0"/>
                        </a:rPr>
                        <a:t>GPU (Optional)</a:t>
                      </a:r>
                      <a:endParaRPr dirty="0">
                        <a:latin typeface="+mn-lt"/>
                        <a:cs typeface="Times New Roman" panose="02020603050405020304" pitchFamily="18" charset="0"/>
                      </a:endParaRPr>
                    </a:p>
                  </a:txBody>
                  <a:tcPr marL="91450" marR="91450" marT="45725" marB="45725"/>
                </a:tc>
                <a:tc>
                  <a:txBody>
                    <a:bodyPr/>
                    <a:lstStyle/>
                    <a:p>
                      <a:pPr>
                        <a:buNone/>
                      </a:pPr>
                      <a:r>
                        <a:rPr lang="en-US" dirty="0">
                          <a:latin typeface="+mn-lt"/>
                          <a:cs typeface="Times New Roman" panose="02020603050405020304" pitchFamily="18" charset="0"/>
                        </a:rPr>
                        <a:t>Accelerates deep learning model training</a:t>
                      </a:r>
                      <a:endParaRPr lang="en-IN" dirty="0">
                        <a:latin typeface="+mn-lt"/>
                        <a:cs typeface="Times New Roman" panose="02020603050405020304" pitchFamily="18" charset="0"/>
                      </a:endParaRPr>
                    </a:p>
                  </a:txBody>
                  <a:tcPr anchor="ctr"/>
                </a:tc>
                <a:extLst>
                  <a:ext uri="{0D108BD9-81ED-4DB2-BD59-A6C34878D82A}">
                    <a16:rowId xmlns:a16="http://schemas.microsoft.com/office/drawing/2014/main" val="10006"/>
                  </a:ext>
                </a:extLst>
              </a:tr>
              <a:tr h="439825">
                <a:tc>
                  <a:txBody>
                    <a:bodyPr/>
                    <a:lstStyle/>
                    <a:p>
                      <a:pPr marL="0" marR="0" lvl="0" indent="0" algn="ctr" rtl="0">
                        <a:lnSpc>
                          <a:spcPct val="150000"/>
                        </a:lnSpc>
                        <a:spcBef>
                          <a:spcPts val="0"/>
                        </a:spcBef>
                        <a:spcAft>
                          <a:spcPts val="0"/>
                        </a:spcAft>
                        <a:buNone/>
                      </a:pPr>
                      <a:r>
                        <a:rPr lang="en-IN" dirty="0">
                          <a:latin typeface="+mn-lt"/>
                          <a:cs typeface="Times New Roman" panose="02020603050405020304" pitchFamily="18" charset="0"/>
                        </a:rPr>
                        <a:t>5</a:t>
                      </a:r>
                      <a:endParaRPr dirty="0">
                        <a:latin typeface="+mn-lt"/>
                        <a:cs typeface="Times New Roman" panose="02020603050405020304" pitchFamily="18" charset="0"/>
                      </a:endParaRPr>
                    </a:p>
                  </a:txBody>
                  <a:tcPr marL="91450" marR="91450" marT="45725" marB="45725"/>
                </a:tc>
                <a:tc>
                  <a:txBody>
                    <a:bodyPr/>
                    <a:lstStyle/>
                    <a:p>
                      <a:pPr marL="0" marR="0" lvl="0" indent="0" algn="l" rtl="0">
                        <a:lnSpc>
                          <a:spcPct val="150000"/>
                        </a:lnSpc>
                        <a:spcBef>
                          <a:spcPts val="0"/>
                        </a:spcBef>
                        <a:spcAft>
                          <a:spcPts val="0"/>
                        </a:spcAft>
                        <a:buNone/>
                      </a:pPr>
                      <a:r>
                        <a:rPr lang="en-IN" dirty="0">
                          <a:latin typeface="+mn-lt"/>
                          <a:cs typeface="Times New Roman" panose="02020603050405020304" pitchFamily="18" charset="0"/>
                        </a:rPr>
                        <a:t>Keyboard &amp; Mouse</a:t>
                      </a:r>
                      <a:endParaRPr dirty="0">
                        <a:latin typeface="+mn-lt"/>
                        <a:cs typeface="Times New Roman" panose="02020603050405020304" pitchFamily="18" charset="0"/>
                      </a:endParaRPr>
                    </a:p>
                  </a:txBody>
                  <a:tcPr marL="91450" marR="91450" marT="45725" marB="45725"/>
                </a:tc>
                <a:tc>
                  <a:txBody>
                    <a:bodyPr/>
                    <a:lstStyle/>
                    <a:p>
                      <a:pPr marL="0" marR="0" lvl="0" indent="0" algn="l" rtl="0">
                        <a:lnSpc>
                          <a:spcPct val="150000"/>
                        </a:lnSpc>
                        <a:spcBef>
                          <a:spcPts val="0"/>
                        </a:spcBef>
                        <a:spcAft>
                          <a:spcPts val="0"/>
                        </a:spcAft>
                        <a:buNone/>
                      </a:pPr>
                      <a:r>
                        <a:rPr lang="en-US" dirty="0">
                          <a:latin typeface="+mn-lt"/>
                          <a:cs typeface="Times New Roman" panose="02020603050405020304" pitchFamily="18" charset="0"/>
                        </a:rPr>
                        <a:t>Enables user interaction during gameplay</a:t>
                      </a:r>
                      <a:endParaRPr dirty="0">
                        <a:latin typeface="+mn-lt"/>
                        <a:cs typeface="Times New Roman" panose="02020603050405020304" pitchFamily="18" charset="0"/>
                      </a:endParaRPr>
                    </a:p>
                  </a:txBody>
                  <a:tcPr marL="91450" marR="91450" marT="45725" marB="45725"/>
                </a:tc>
                <a:extLst>
                  <a:ext uri="{0D108BD9-81ED-4DB2-BD59-A6C34878D82A}">
                    <a16:rowId xmlns:a16="http://schemas.microsoft.com/office/drawing/2014/main" val="10007"/>
                  </a:ext>
                </a:extLst>
              </a:tr>
              <a:tr h="439825">
                <a:tc>
                  <a:txBody>
                    <a:bodyPr/>
                    <a:lstStyle/>
                    <a:p>
                      <a:pPr marL="0" marR="0" lvl="0" indent="0" algn="ctr" rtl="0">
                        <a:lnSpc>
                          <a:spcPct val="150000"/>
                        </a:lnSpc>
                        <a:spcBef>
                          <a:spcPts val="0"/>
                        </a:spcBef>
                        <a:spcAft>
                          <a:spcPts val="0"/>
                        </a:spcAft>
                        <a:buNone/>
                      </a:pPr>
                      <a:r>
                        <a:rPr lang="en-IN" dirty="0">
                          <a:latin typeface="+mn-lt"/>
                          <a:cs typeface="Times New Roman" panose="02020603050405020304" pitchFamily="18" charset="0"/>
                        </a:rPr>
                        <a:t>6</a:t>
                      </a:r>
                      <a:endParaRPr dirty="0">
                        <a:latin typeface="+mn-lt"/>
                        <a:cs typeface="Times New Roman" panose="02020603050405020304" pitchFamily="18" charset="0"/>
                      </a:endParaRPr>
                    </a:p>
                  </a:txBody>
                  <a:tcPr marL="91450" marR="91450" marT="45725" marB="45725"/>
                </a:tc>
                <a:tc>
                  <a:txBody>
                    <a:bodyPr/>
                    <a:lstStyle/>
                    <a:p>
                      <a:pPr marL="0" marR="0" lvl="0" indent="0" algn="l" rtl="0">
                        <a:lnSpc>
                          <a:spcPct val="150000"/>
                        </a:lnSpc>
                        <a:spcBef>
                          <a:spcPts val="0"/>
                        </a:spcBef>
                        <a:spcAft>
                          <a:spcPts val="0"/>
                        </a:spcAft>
                        <a:buNone/>
                      </a:pPr>
                      <a:r>
                        <a:rPr lang="en-IN" dirty="0">
                          <a:latin typeface="+mn-lt"/>
                          <a:cs typeface="Times New Roman" panose="02020603050405020304" pitchFamily="18" charset="0"/>
                        </a:rPr>
                        <a:t>Monitor</a:t>
                      </a:r>
                      <a:endParaRPr dirty="0">
                        <a:latin typeface="+mn-lt"/>
                        <a:cs typeface="Times New Roman" panose="02020603050405020304" pitchFamily="18" charset="0"/>
                      </a:endParaRPr>
                    </a:p>
                  </a:txBody>
                  <a:tcPr marL="91450" marR="91450" marT="45725" marB="45725"/>
                </a:tc>
                <a:tc>
                  <a:txBody>
                    <a:bodyPr/>
                    <a:lstStyle/>
                    <a:p>
                      <a:pPr>
                        <a:buNone/>
                      </a:pPr>
                      <a:r>
                        <a:rPr lang="en-US" dirty="0">
                          <a:latin typeface="+mn-lt"/>
                          <a:cs typeface="Times New Roman" panose="02020603050405020304" pitchFamily="18" charset="0"/>
                        </a:rPr>
                        <a:t>Displays chessboard output and results</a:t>
                      </a:r>
                      <a:endParaRPr lang="en-IN" dirty="0">
                        <a:latin typeface="+mn-lt"/>
                        <a:cs typeface="Times New Roman" panose="02020603050405020304" pitchFamily="18" charset="0"/>
                      </a:endParaRPr>
                    </a:p>
                  </a:txBody>
                  <a:tcPr anchor="ctr"/>
                </a:tc>
                <a:extLst>
                  <a:ext uri="{0D108BD9-81ED-4DB2-BD59-A6C34878D82A}">
                    <a16:rowId xmlns:a16="http://schemas.microsoft.com/office/drawing/2014/main" val="10008"/>
                  </a:ext>
                </a:extLst>
              </a:tr>
            </a:tbl>
          </a:graphicData>
        </a:graphic>
      </p:graphicFrame>
      <p:sp>
        <p:nvSpPr>
          <p:cNvPr id="170" name="Google Shape;170;p16">
            <a:extLst>
              <a:ext uri="{FF2B5EF4-FFF2-40B4-BE49-F238E27FC236}">
                <a16:creationId xmlns:a16="http://schemas.microsoft.com/office/drawing/2014/main" id="{7703CB73-8FC4-9D9F-1003-EB00CBCA88B1}"/>
              </a:ext>
            </a:extLst>
          </p:cNvPr>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11</a:t>
            </a:fld>
            <a:endParaRPr/>
          </a:p>
        </p:txBody>
      </p:sp>
      <p:sp>
        <p:nvSpPr>
          <p:cNvPr id="171" name="Google Shape;171;p16">
            <a:extLst>
              <a:ext uri="{FF2B5EF4-FFF2-40B4-BE49-F238E27FC236}">
                <a16:creationId xmlns:a16="http://schemas.microsoft.com/office/drawing/2014/main" id="{C4BEE689-88DF-AC66-65A7-FFF8E6CAAB59}"/>
              </a:ext>
            </a:extLst>
          </p:cNvPr>
          <p:cNvSpPr txBox="1">
            <a:spLocks noGrp="1"/>
          </p:cNvSpPr>
          <p:nvPr>
            <p:ph type="title"/>
          </p:nvPr>
        </p:nvSpPr>
        <p:spPr>
          <a:xfrm>
            <a:off x="311699" y="118566"/>
            <a:ext cx="8520602" cy="572701"/>
          </a:xfrm>
          <a:prstGeom prst="rect">
            <a:avLst/>
          </a:prstGeom>
          <a:noFill/>
          <a:ln>
            <a:noFill/>
          </a:ln>
        </p:spPr>
        <p:txBody>
          <a:bodyPr spcFirstLastPara="1" wrap="square" lIns="91400" tIns="91400" rIns="91400" bIns="91400" anchor="t" anchorCtr="0">
            <a:noAutofit/>
          </a:bodyPr>
          <a:lstStyle/>
          <a:p>
            <a:pPr marL="0" lvl="0" indent="0" algn="ctr" rtl="0">
              <a:lnSpc>
                <a:spcPct val="100000"/>
              </a:lnSpc>
              <a:spcBef>
                <a:spcPts val="0"/>
              </a:spcBef>
              <a:spcAft>
                <a:spcPts val="0"/>
              </a:spcAft>
              <a:buSzPts val="1800"/>
              <a:buNone/>
            </a:pPr>
            <a:r>
              <a:rPr lang="en-US" sz="2400" b="1">
                <a:latin typeface="Times New Roman"/>
                <a:ea typeface="Times New Roman"/>
                <a:cs typeface="Times New Roman"/>
                <a:sym typeface="Times New Roman"/>
              </a:rPr>
              <a:t>Software &amp; Hardware Requirements (contd…)</a:t>
            </a:r>
            <a:endParaRPr/>
          </a:p>
        </p:txBody>
      </p:sp>
    </p:spTree>
    <p:extLst>
      <p:ext uri="{BB962C8B-B14F-4D97-AF65-F5344CB8AC3E}">
        <p14:creationId xmlns:p14="http://schemas.microsoft.com/office/powerpoint/2010/main" val="3565382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7"/>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fontScale="90000"/>
          </a:bodyPr>
          <a:lstStyle/>
          <a:p>
            <a:pPr marL="0" lvl="0" indent="0" algn="ctr" rtl="0">
              <a:lnSpc>
                <a:spcPct val="100000"/>
              </a:lnSpc>
              <a:spcBef>
                <a:spcPts val="0"/>
              </a:spcBef>
              <a:spcAft>
                <a:spcPts val="0"/>
              </a:spcAft>
              <a:buSzPct val="71428"/>
              <a:buNone/>
            </a:pPr>
            <a:r>
              <a:rPr lang="en-US" b="1" dirty="0">
                <a:latin typeface="Times New Roman"/>
                <a:ea typeface="Times New Roman"/>
                <a:cs typeface="Times New Roman"/>
                <a:sym typeface="Times New Roman"/>
              </a:rPr>
              <a:t>References</a:t>
            </a:r>
            <a:endParaRPr dirty="0"/>
          </a:p>
        </p:txBody>
      </p:sp>
      <p:sp>
        <p:nvSpPr>
          <p:cNvPr id="179" name="Google Shape;179;p17"/>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12</a:t>
            </a:fld>
            <a:endParaRPr dirty="0"/>
          </a:p>
        </p:txBody>
      </p:sp>
      <p:sp>
        <p:nvSpPr>
          <p:cNvPr id="2" name="Rectangle 1"/>
          <p:cNvSpPr/>
          <p:nvPr/>
        </p:nvSpPr>
        <p:spPr>
          <a:xfrm>
            <a:off x="830240" y="1026229"/>
            <a:ext cx="7854105" cy="3323987"/>
          </a:xfrm>
          <a:prstGeom prst="rect">
            <a:avLst/>
          </a:prstGeom>
        </p:spPr>
        <p:txBody>
          <a:bodyPr wrap="square">
            <a:spAutoFit/>
          </a:bodyPr>
          <a:lstStyle/>
          <a:p>
            <a:pPr marL="285750" indent="-285750">
              <a:buFont typeface="Arial" panose="020B0604020202020204" pitchFamily="34" charset="0"/>
              <a:buChar char="•"/>
            </a:pPr>
            <a:r>
              <a:rPr lang="en-IN" dirty="0"/>
              <a:t>Richard S. Sutton and Andrew G. </a:t>
            </a:r>
            <a:r>
              <a:rPr lang="en-IN" dirty="0" err="1"/>
              <a:t>Barto</a:t>
            </a:r>
            <a:r>
              <a:rPr lang="en-IN" dirty="0"/>
              <a:t>, Reinforcement Learning: An Introduction, MIT Press, Cambridge, MA, 2018.</a:t>
            </a:r>
          </a:p>
          <a:p>
            <a:endParaRPr lang="en-IN" dirty="0"/>
          </a:p>
          <a:p>
            <a:pPr marL="285750" indent="-285750">
              <a:buFont typeface="Arial" panose="020B0604020202020204" pitchFamily="34" charset="0"/>
              <a:buChar char="•"/>
            </a:pPr>
            <a:r>
              <a:rPr lang="en-IN" dirty="0"/>
              <a:t>YouTube Playlist, Reinforcement Learning Tutorials</a:t>
            </a:r>
          </a:p>
          <a:p>
            <a:r>
              <a:rPr lang="en-IN" dirty="0"/>
              <a:t>     Available at: https://youtube.com/playlist?list=PLqYmG7hTraZDM-OYHWgPebj2MfCFzFObQ</a:t>
            </a:r>
          </a:p>
          <a:p>
            <a:endParaRPr lang="en-IN" dirty="0"/>
          </a:p>
          <a:p>
            <a:pPr marL="285750" indent="-285750">
              <a:buFont typeface="Arial" panose="020B0604020202020204" pitchFamily="34" charset="0"/>
              <a:buChar char="•"/>
            </a:pPr>
            <a:r>
              <a:rPr lang="en-IN" dirty="0"/>
              <a:t>ChatGPT-3.5, </a:t>
            </a:r>
            <a:r>
              <a:rPr lang="en-IN" dirty="0" err="1"/>
              <a:t>OpenAI</a:t>
            </a:r>
            <a:endParaRPr lang="en-IN" dirty="0"/>
          </a:p>
          <a:p>
            <a:r>
              <a:rPr lang="en-IN" dirty="0"/>
              <a:t>      Available at: https://chat.openai.com/</a:t>
            </a:r>
          </a:p>
          <a:p>
            <a:endParaRPr lang="en-IN" dirty="0"/>
          </a:p>
          <a:p>
            <a:pPr marL="285750" indent="-285750">
              <a:buFont typeface="Arial" panose="020B0604020202020204" pitchFamily="34" charset="0"/>
              <a:buChar char="•"/>
            </a:pPr>
            <a:r>
              <a:rPr lang="en-IN" dirty="0"/>
              <a:t>Medium Articles, Reinforcement Learning and Deep Learning Concepts</a:t>
            </a:r>
          </a:p>
          <a:p>
            <a:r>
              <a:rPr lang="en-IN" dirty="0"/>
              <a:t>      Available at: https://medium.com/</a:t>
            </a:r>
          </a:p>
          <a:p>
            <a:endParaRPr lang="en-IN" dirty="0"/>
          </a:p>
          <a:p>
            <a:pPr marL="285750" indent="-285750">
              <a:buFont typeface="Arial" panose="020B0604020202020204" pitchFamily="34" charset="0"/>
              <a:buChar char="•"/>
            </a:pPr>
            <a:r>
              <a:rPr lang="en-IN" dirty="0"/>
              <a:t>Bharti </a:t>
            </a:r>
            <a:r>
              <a:rPr lang="en-IN" dirty="0" err="1"/>
              <a:t>Motwani</a:t>
            </a:r>
            <a:r>
              <a:rPr lang="en-IN" dirty="0"/>
              <a:t>, Data Analytics Using Python, Pearson Education.</a:t>
            </a:r>
          </a:p>
          <a:p>
            <a:endParaRPr lang="en-IN" dirty="0"/>
          </a:p>
          <a:p>
            <a:pPr marL="285750" indent="-285750">
              <a:buFont typeface="Arial" panose="020B0604020202020204" pitchFamily="34" charset="0"/>
              <a:buChar char="•"/>
            </a:pPr>
            <a:r>
              <a:rPr lang="en-IN" dirty="0"/>
              <a:t>H.K. Das, Higher Engineering Mathematics, S. Chand Publishing.</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TotalTime>
  <Words>1190</Words>
  <Application>Microsoft Office PowerPoint</Application>
  <PresentationFormat>On-screen Show (16:9)</PresentationFormat>
  <Paragraphs>135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Times New Roman</vt:lpstr>
      <vt:lpstr>Simple Light</vt:lpstr>
      <vt:lpstr>   Gokaraju Rangaraju Institute of Engineering and Technology  (Autonomous) Department of CSE(AI&amp;ML) Mini Project With Seminar</vt:lpstr>
      <vt:lpstr>Abstract</vt:lpstr>
      <vt:lpstr>1. Introduction</vt:lpstr>
      <vt:lpstr>1. Introduction (contd…)</vt:lpstr>
      <vt:lpstr>2. Problem Statement</vt:lpstr>
      <vt:lpstr>3. Objectives of the Project </vt:lpstr>
      <vt:lpstr>PowerPoint Presentation</vt:lpstr>
      <vt:lpstr>PowerPoint Presentation</vt:lpstr>
      <vt:lpstr>5. Architecture Diagram</vt:lpstr>
      <vt:lpstr>Software &amp; Hardware Requirements </vt:lpstr>
      <vt:lpstr>Software &amp; Hardware Requirements (contd…)</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Gokaraju Rangaraju Institute of Engineering and Technology  (Autonomous) Department of CSE(AI&amp;ML) Mini Project With Seminar</dc:title>
  <dc:creator>Poornima E</dc:creator>
  <cp:lastModifiedBy>danny palvai</cp:lastModifiedBy>
  <cp:revision>7</cp:revision>
  <dcterms:created xsi:type="dcterms:W3CDTF">2023-10-06T13:16:31Z</dcterms:created>
  <dcterms:modified xsi:type="dcterms:W3CDTF">2026-01-22T17:43:10Z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690FDD37806748AD98CE74F8DD4F34F9</vt:lpwstr>
  </property>
  <property fmtid="{D5CDD505-2E9C-101B-9397-08002B2CF9AE}" pid="3" name="KSOProductBuildVer">
    <vt:lpwstr>1033-11.2.0.11225</vt:lpwstr>
  </property>
</Properties>
</file>